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720677c68a4079" /><Relationship Type="http://schemas.openxmlformats.org/officeDocument/2006/relationships/extended-properties" Target="/docProps/app.xml" Id="Ra98718457e924198" /><Relationship Type="http://schemas.openxmlformats.org/officeDocument/2006/relationships/officeDocument" Target="/ppt/presentation.xml" Id="Rc85d80cad7ad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723d34a3774e2a"/>
  </p:sldMasterIdLst>
  <p:notesMasterIdLst>
    <p:notesMasterId xmlns:r="http://schemas.openxmlformats.org/officeDocument/2006/relationships" r:id="R6205a795707543af"/>
  </p:notesMasterIdLst>
  <p:sldIdLst>
    <p:sldId xmlns:r="http://schemas.openxmlformats.org/officeDocument/2006/relationships" id="256" r:id="R3f29e8fd41254a93"/>
    <p:sldId xmlns:r="http://schemas.openxmlformats.org/officeDocument/2006/relationships" id="257" r:id="Rf286225e36384d4a"/>
    <p:sldId xmlns:r="http://schemas.openxmlformats.org/officeDocument/2006/relationships" id="258" r:id="Ra164793fe0c4481b"/>
    <p:sldId xmlns:r="http://schemas.openxmlformats.org/officeDocument/2006/relationships" id="259" r:id="R2d9b0cb78b0344dd"/>
    <p:sldId xmlns:r="http://schemas.openxmlformats.org/officeDocument/2006/relationships" id="260" r:id="Re4b8527913984b0d"/>
    <p:sldId xmlns:r="http://schemas.openxmlformats.org/officeDocument/2006/relationships" id="261" r:id="R0d353b7cf50149d8"/>
    <p:sldId xmlns:r="http://schemas.openxmlformats.org/officeDocument/2006/relationships" id="262" r:id="R67441275496c4a0e"/>
    <p:sldId xmlns:r="http://schemas.openxmlformats.org/officeDocument/2006/relationships" id="263" r:id="Rfef814e8f5b34235"/>
    <p:sldId xmlns:r="http://schemas.openxmlformats.org/officeDocument/2006/relationships" id="264" r:id="R85f345026eee4bcd"/>
    <p:sldId xmlns:r="http://schemas.openxmlformats.org/officeDocument/2006/relationships" id="265" r:id="R6510a6c7f26a47f5"/>
    <p:sldId xmlns:r="http://schemas.openxmlformats.org/officeDocument/2006/relationships" id="266" r:id="R9ca29fd9fcc64998"/>
    <p:sldId xmlns:r="http://schemas.openxmlformats.org/officeDocument/2006/relationships" id="267" r:id="Rfc3c685162c34c55"/>
    <p:sldId xmlns:r="http://schemas.openxmlformats.org/officeDocument/2006/relationships" id="268" r:id="R31e066ffbf3d433a"/>
    <p:sldId xmlns:r="http://schemas.openxmlformats.org/officeDocument/2006/relationships" id="269" r:id="R1153617ccad34558"/>
    <p:sldId xmlns:r="http://schemas.openxmlformats.org/officeDocument/2006/relationships" id="270" r:id="R4bdaf2df8d1a4536"/>
    <p:sldId xmlns:r="http://schemas.openxmlformats.org/officeDocument/2006/relationships" id="271" r:id="Rd6b3d5743c3244e6"/>
    <p:sldId xmlns:r="http://schemas.openxmlformats.org/officeDocument/2006/relationships" id="272" r:id="R63d4c3fb0d67421e"/>
    <p:sldId xmlns:r="http://schemas.openxmlformats.org/officeDocument/2006/relationships" id="273" r:id="Rda91410b8c1a4d9e"/>
    <p:sldId xmlns:r="http://schemas.openxmlformats.org/officeDocument/2006/relationships" id="274" r:id="Rc6fd5fe669a74b8e"/>
    <p:sldId xmlns:r="http://schemas.openxmlformats.org/officeDocument/2006/relationships" id="275" r:id="R555b4654c5c549ef"/>
    <p:sldId xmlns:r="http://schemas.openxmlformats.org/officeDocument/2006/relationships" id="276" r:id="R3e95b48b5bff462e"/>
    <p:sldId xmlns:r="http://schemas.openxmlformats.org/officeDocument/2006/relationships" id="277" r:id="R4bc74c0c807f464a"/>
    <p:sldId xmlns:r="http://schemas.openxmlformats.org/officeDocument/2006/relationships" id="278" r:id="Rc47224ba4904439b"/>
    <p:sldId xmlns:r="http://schemas.openxmlformats.org/officeDocument/2006/relationships" id="279" r:id="R198c752ff8ec48d0"/>
    <p:sldId xmlns:r="http://schemas.openxmlformats.org/officeDocument/2006/relationships" id="280" r:id="Rfc2780af4ebf49cb"/>
    <p:sldId xmlns:r="http://schemas.openxmlformats.org/officeDocument/2006/relationships" id="281" r:id="R1073dcf4142e4a92"/>
    <p:sldId xmlns:r="http://schemas.openxmlformats.org/officeDocument/2006/relationships" id="282" r:id="Rc5e10047bbe94e13"/>
    <p:sldId xmlns:r="http://schemas.openxmlformats.org/officeDocument/2006/relationships" id="283" r:id="R45f0986d46a9467e"/>
    <p:sldId xmlns:r="http://schemas.openxmlformats.org/officeDocument/2006/relationships" id="284" r:id="R5a4aee6850664e69"/>
    <p:sldId xmlns:r="http://schemas.openxmlformats.org/officeDocument/2006/relationships" id="285" r:id="R16c0bc8273504cbe"/>
    <p:sldId xmlns:r="http://schemas.openxmlformats.org/officeDocument/2006/relationships" id="286" r:id="R6c915abd76194903"/>
    <p:sldId xmlns:r="http://schemas.openxmlformats.org/officeDocument/2006/relationships" id="287" r:id="Rcfffd48a18b1498f"/>
    <p:sldId xmlns:r="http://schemas.openxmlformats.org/officeDocument/2006/relationships" id="288" r:id="Raf0b55689ad4439f"/>
    <p:sldId xmlns:r="http://schemas.openxmlformats.org/officeDocument/2006/relationships" id="289" r:id="Re8245d4174484f4b"/>
    <p:sldId xmlns:r="http://schemas.openxmlformats.org/officeDocument/2006/relationships" id="290" r:id="Rbe38df29580e4e76"/>
    <p:sldId xmlns:r="http://schemas.openxmlformats.org/officeDocument/2006/relationships" id="291" r:id="R383682d8b3934fc9"/>
    <p:sldId xmlns:r="http://schemas.openxmlformats.org/officeDocument/2006/relationships" id="292" r:id="Rdef222dbf05b4794"/>
    <p:sldId xmlns:r="http://schemas.openxmlformats.org/officeDocument/2006/relationships" id="293" r:id="R6a64a70314de48ef"/>
    <p:sldId xmlns:r="http://schemas.openxmlformats.org/officeDocument/2006/relationships" id="294" r:id="Rdeee896be0534de3"/>
    <p:sldId xmlns:r="http://schemas.openxmlformats.org/officeDocument/2006/relationships" id="295" r:id="Rc1ba540ac2d3476a"/>
    <p:sldId xmlns:r="http://schemas.openxmlformats.org/officeDocument/2006/relationships" id="296" r:id="R532727a90e404e9b"/>
    <p:sldId xmlns:r="http://schemas.openxmlformats.org/officeDocument/2006/relationships" id="297" r:id="Rde2b6bd9f8d94f0e"/>
    <p:sldId xmlns:r="http://schemas.openxmlformats.org/officeDocument/2006/relationships" id="298" r:id="R1d58af614d7b4aab"/>
    <p:sldId xmlns:r="http://schemas.openxmlformats.org/officeDocument/2006/relationships" id="299" r:id="Rce1ece08dfd148dc"/>
    <p:sldId xmlns:r="http://schemas.openxmlformats.org/officeDocument/2006/relationships" id="300" r:id="Rac6f416964bd46eb"/>
    <p:sldId xmlns:r="http://schemas.openxmlformats.org/officeDocument/2006/relationships" id="301" r:id="R856ba8c8484e4edd"/>
    <p:sldId xmlns:r="http://schemas.openxmlformats.org/officeDocument/2006/relationships" id="302" r:id="R97049352a9ce42b3"/>
    <p:sldId xmlns:r="http://schemas.openxmlformats.org/officeDocument/2006/relationships" id="303" r:id="Rde5b5e6314fd4ffa"/>
    <p:sldId xmlns:r="http://schemas.openxmlformats.org/officeDocument/2006/relationships" id="304" r:id="R793adeb727a14877"/>
    <p:sldId xmlns:r="http://schemas.openxmlformats.org/officeDocument/2006/relationships" id="305" r:id="R59f746d6b3904504"/>
    <p:sldId xmlns:r="http://schemas.openxmlformats.org/officeDocument/2006/relationships" id="306" r:id="Rbbecbb53280748d6"/>
    <p:sldId xmlns:r="http://schemas.openxmlformats.org/officeDocument/2006/relationships" id="307" r:id="R68434d40fe334633"/>
    <p:sldId xmlns:r="http://schemas.openxmlformats.org/officeDocument/2006/relationships" id="308" r:id="Ra5beb169c961432f"/>
    <p:sldId xmlns:r="http://schemas.openxmlformats.org/officeDocument/2006/relationships" id="309" r:id="R69e983e64d8e4949"/>
    <p:sldId xmlns:r="http://schemas.openxmlformats.org/officeDocument/2006/relationships" id="310" r:id="R4f13aba6bb654e15"/>
    <p:sldId xmlns:r="http://schemas.openxmlformats.org/officeDocument/2006/relationships" id="311" r:id="Rb62bbead87514ece"/>
    <p:sldId xmlns:r="http://schemas.openxmlformats.org/officeDocument/2006/relationships" id="312" r:id="R0a8772d641364ec8"/>
    <p:sldId xmlns:r="http://schemas.openxmlformats.org/officeDocument/2006/relationships" id="313" r:id="Rf8c13ec6458e42ba"/>
    <p:sldId xmlns:r="http://schemas.openxmlformats.org/officeDocument/2006/relationships" id="314" r:id="R9759a171ed784f1e"/>
    <p:sldId xmlns:r="http://schemas.openxmlformats.org/officeDocument/2006/relationships" id="315" r:id="R1bcb53cfdd10473a"/>
    <p:sldId xmlns:r="http://schemas.openxmlformats.org/officeDocument/2006/relationships" id="316" r:id="R5e91a4df1abb42a6"/>
    <p:sldId xmlns:r="http://schemas.openxmlformats.org/officeDocument/2006/relationships" id="317" r:id="R8242f0fbf3774364"/>
    <p:sldId xmlns:r="http://schemas.openxmlformats.org/officeDocument/2006/relationships" id="318" r:id="R5bb6146d9ac146a1"/>
    <p:sldId xmlns:r="http://schemas.openxmlformats.org/officeDocument/2006/relationships" id="319" r:id="R3c420491728a4ac9"/>
    <p:sldId xmlns:r="http://schemas.openxmlformats.org/officeDocument/2006/relationships" id="320" r:id="R16346a979550466d"/>
    <p:sldId xmlns:r="http://schemas.openxmlformats.org/officeDocument/2006/relationships" id="321" r:id="Rd1d2ab34f74c44a0"/>
    <p:sldId xmlns:r="http://schemas.openxmlformats.org/officeDocument/2006/relationships" id="322" r:id="Rba9755b694454cc4"/>
    <p:sldId xmlns:r="http://schemas.openxmlformats.org/officeDocument/2006/relationships" id="323" r:id="Rc09d894fa62e414b"/>
    <p:sldId xmlns:r="http://schemas.openxmlformats.org/officeDocument/2006/relationships" id="324" r:id="R245382f05e5d4a44"/>
    <p:sldId xmlns:r="http://schemas.openxmlformats.org/officeDocument/2006/relationships" id="325" r:id="R1a2fdc1bf4a54863"/>
    <p:sldId xmlns:r="http://schemas.openxmlformats.org/officeDocument/2006/relationships" id="326" r:id="Rdfb7d459231f49ef"/>
    <p:sldId xmlns:r="http://schemas.openxmlformats.org/officeDocument/2006/relationships" id="327" r:id="Rba595a02ec3e44e5"/>
    <p:sldId xmlns:r="http://schemas.openxmlformats.org/officeDocument/2006/relationships" id="328" r:id="R256e9c7fdda34686"/>
    <p:sldId xmlns:r="http://schemas.openxmlformats.org/officeDocument/2006/relationships" id="329" r:id="R427ea5f923104404"/>
    <p:sldId xmlns:r="http://schemas.openxmlformats.org/officeDocument/2006/relationships" id="330" r:id="Rc8c7010099224efc"/>
    <p:sldId xmlns:r="http://schemas.openxmlformats.org/officeDocument/2006/relationships" id="331" r:id="Rc19b56d3718c40f6"/>
    <p:sldId xmlns:r="http://schemas.openxmlformats.org/officeDocument/2006/relationships" id="332" r:id="R0725f1de8c1147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115de6dc14817" /><Relationship Type="http://schemas.openxmlformats.org/officeDocument/2006/relationships/slideMaster" Target="/ppt/slideMasters/slideMaster1.xml" Id="Ra7723d34a3774e2a" /><Relationship Type="http://schemas.openxmlformats.org/officeDocument/2006/relationships/notesMaster" Target="/ppt/notesMasters/notesMaster1.xml" Id="R6205a795707543af" /><Relationship Type="http://schemas.openxmlformats.org/officeDocument/2006/relationships/presProps" Target="/ppt/presProps.xml" Id="R25803555709440a2" /><Relationship Type="http://schemas.openxmlformats.org/officeDocument/2006/relationships/tableStyles" Target="/ppt/tableStyles.xml" Id="Ra2d54f6faa3c4783" /><Relationship Type="http://schemas.openxmlformats.org/officeDocument/2006/relationships/slide" Target="/ppt/slides/slide1.xml" Id="R3f29e8fd41254a93" /><Relationship Type="http://schemas.openxmlformats.org/officeDocument/2006/relationships/slide" Target="/ppt/slides/slide2.xml" Id="Rf286225e36384d4a" /><Relationship Type="http://schemas.openxmlformats.org/officeDocument/2006/relationships/slide" Target="/ppt/slides/slide3.xml" Id="Ra164793fe0c4481b" /><Relationship Type="http://schemas.openxmlformats.org/officeDocument/2006/relationships/slide" Target="/ppt/slides/slide4.xml" Id="R2d9b0cb78b0344dd" /><Relationship Type="http://schemas.openxmlformats.org/officeDocument/2006/relationships/slide" Target="/ppt/slides/slide5.xml" Id="Re4b8527913984b0d" /><Relationship Type="http://schemas.openxmlformats.org/officeDocument/2006/relationships/slide" Target="/ppt/slides/slide6.xml" Id="R0d353b7cf50149d8" /><Relationship Type="http://schemas.openxmlformats.org/officeDocument/2006/relationships/slide" Target="/ppt/slides/slide7.xml" Id="R67441275496c4a0e" /><Relationship Type="http://schemas.openxmlformats.org/officeDocument/2006/relationships/slide" Target="/ppt/slides/slide8.xml" Id="Rfef814e8f5b34235" /><Relationship Type="http://schemas.openxmlformats.org/officeDocument/2006/relationships/slide" Target="/ppt/slides/slide9.xml" Id="R85f345026eee4bcd" /><Relationship Type="http://schemas.openxmlformats.org/officeDocument/2006/relationships/slide" Target="/ppt/slides/slide10.xml" Id="R6510a6c7f26a47f5" /><Relationship Type="http://schemas.openxmlformats.org/officeDocument/2006/relationships/slide" Target="/ppt/slides/slide11.xml" Id="R9ca29fd9fcc64998" /><Relationship Type="http://schemas.openxmlformats.org/officeDocument/2006/relationships/slide" Target="/ppt/slides/slide12.xml" Id="Rfc3c685162c34c55" /><Relationship Type="http://schemas.openxmlformats.org/officeDocument/2006/relationships/slide" Target="/ppt/slides/slide13.xml" Id="R31e066ffbf3d433a" /><Relationship Type="http://schemas.openxmlformats.org/officeDocument/2006/relationships/slide" Target="/ppt/slides/slide14.xml" Id="R1153617ccad34558" /><Relationship Type="http://schemas.openxmlformats.org/officeDocument/2006/relationships/slide" Target="/ppt/slides/slide15.xml" Id="R4bdaf2df8d1a4536" /><Relationship Type="http://schemas.openxmlformats.org/officeDocument/2006/relationships/slide" Target="/ppt/slides/slide16.xml" Id="Rd6b3d5743c3244e6" /><Relationship Type="http://schemas.openxmlformats.org/officeDocument/2006/relationships/slide" Target="/ppt/slides/slide17.xml" Id="R63d4c3fb0d67421e" /><Relationship Type="http://schemas.openxmlformats.org/officeDocument/2006/relationships/slide" Target="/ppt/slides/slide18.xml" Id="Rda91410b8c1a4d9e" /><Relationship Type="http://schemas.openxmlformats.org/officeDocument/2006/relationships/slide" Target="/ppt/slides/slide19.xml" Id="Rc6fd5fe669a74b8e" /><Relationship Type="http://schemas.openxmlformats.org/officeDocument/2006/relationships/slide" Target="/ppt/slides/slide20.xml" Id="R555b4654c5c549ef" /><Relationship Type="http://schemas.openxmlformats.org/officeDocument/2006/relationships/slide" Target="/ppt/slides/slide21.xml" Id="R3e95b48b5bff462e" /><Relationship Type="http://schemas.openxmlformats.org/officeDocument/2006/relationships/slide" Target="/ppt/slides/slide22.xml" Id="R4bc74c0c807f464a" /><Relationship Type="http://schemas.openxmlformats.org/officeDocument/2006/relationships/slide" Target="/ppt/slides/slide23.xml" Id="Rc47224ba4904439b" /><Relationship Type="http://schemas.openxmlformats.org/officeDocument/2006/relationships/slide" Target="/ppt/slides/slide24.xml" Id="R198c752ff8ec48d0" /><Relationship Type="http://schemas.openxmlformats.org/officeDocument/2006/relationships/slide" Target="/ppt/slides/slide25.xml" Id="Rfc2780af4ebf49cb" /><Relationship Type="http://schemas.openxmlformats.org/officeDocument/2006/relationships/slide" Target="/ppt/slides/slide26.xml" Id="R1073dcf4142e4a92" /><Relationship Type="http://schemas.openxmlformats.org/officeDocument/2006/relationships/slide" Target="/ppt/slides/slide27.xml" Id="Rc5e10047bbe94e13" /><Relationship Type="http://schemas.openxmlformats.org/officeDocument/2006/relationships/slide" Target="/ppt/slides/slide28.xml" Id="R45f0986d46a9467e" /><Relationship Type="http://schemas.openxmlformats.org/officeDocument/2006/relationships/slide" Target="/ppt/slides/slide29.xml" Id="R5a4aee6850664e69" /><Relationship Type="http://schemas.openxmlformats.org/officeDocument/2006/relationships/slide" Target="/ppt/slides/slide30.xml" Id="R16c0bc8273504cbe" /><Relationship Type="http://schemas.openxmlformats.org/officeDocument/2006/relationships/slide" Target="/ppt/slides/slide31.xml" Id="R6c915abd76194903" /><Relationship Type="http://schemas.openxmlformats.org/officeDocument/2006/relationships/slide" Target="/ppt/slides/slide32.xml" Id="Rcfffd48a18b1498f" /><Relationship Type="http://schemas.openxmlformats.org/officeDocument/2006/relationships/slide" Target="/ppt/slides/slide33.xml" Id="Raf0b55689ad4439f" /><Relationship Type="http://schemas.openxmlformats.org/officeDocument/2006/relationships/slide" Target="/ppt/slides/slide34.xml" Id="Re8245d4174484f4b" /><Relationship Type="http://schemas.openxmlformats.org/officeDocument/2006/relationships/slide" Target="/ppt/slides/slide35.xml" Id="Rbe38df29580e4e76" /><Relationship Type="http://schemas.openxmlformats.org/officeDocument/2006/relationships/slide" Target="/ppt/slides/slide36.xml" Id="R383682d8b3934fc9" /><Relationship Type="http://schemas.openxmlformats.org/officeDocument/2006/relationships/slide" Target="/ppt/slides/slide37.xml" Id="Rdef222dbf05b4794" /><Relationship Type="http://schemas.openxmlformats.org/officeDocument/2006/relationships/slide" Target="/ppt/slides/slide38.xml" Id="R6a64a70314de48ef" /><Relationship Type="http://schemas.openxmlformats.org/officeDocument/2006/relationships/slide" Target="/ppt/slides/slide39.xml" Id="Rdeee896be0534de3" /><Relationship Type="http://schemas.openxmlformats.org/officeDocument/2006/relationships/slide" Target="/ppt/slides/slide40.xml" Id="Rc1ba540ac2d3476a" /><Relationship Type="http://schemas.openxmlformats.org/officeDocument/2006/relationships/slide" Target="/ppt/slides/slide41.xml" Id="R532727a90e404e9b" /><Relationship Type="http://schemas.openxmlformats.org/officeDocument/2006/relationships/slide" Target="/ppt/slides/slide42.xml" Id="Rde2b6bd9f8d94f0e" /><Relationship Type="http://schemas.openxmlformats.org/officeDocument/2006/relationships/slide" Target="/ppt/slides/slide43.xml" Id="R1d58af614d7b4aab" /><Relationship Type="http://schemas.openxmlformats.org/officeDocument/2006/relationships/slide" Target="/ppt/slides/slide44.xml" Id="Rce1ece08dfd148dc" /><Relationship Type="http://schemas.openxmlformats.org/officeDocument/2006/relationships/slide" Target="/ppt/slides/slide45.xml" Id="Rac6f416964bd46eb" /><Relationship Type="http://schemas.openxmlformats.org/officeDocument/2006/relationships/slide" Target="/ppt/slides/slide46.xml" Id="R856ba8c8484e4edd" /><Relationship Type="http://schemas.openxmlformats.org/officeDocument/2006/relationships/slide" Target="/ppt/slides/slide47.xml" Id="R97049352a9ce42b3" /><Relationship Type="http://schemas.openxmlformats.org/officeDocument/2006/relationships/slide" Target="/ppt/slides/slide48.xml" Id="Rde5b5e6314fd4ffa" /><Relationship Type="http://schemas.openxmlformats.org/officeDocument/2006/relationships/slide" Target="/ppt/slides/slide49.xml" Id="R793adeb727a14877" /><Relationship Type="http://schemas.openxmlformats.org/officeDocument/2006/relationships/slide" Target="/ppt/slides/slide50.xml" Id="R59f746d6b3904504" /><Relationship Type="http://schemas.openxmlformats.org/officeDocument/2006/relationships/slide" Target="/ppt/slides/slide51.xml" Id="Rbbecbb53280748d6" /><Relationship Type="http://schemas.openxmlformats.org/officeDocument/2006/relationships/slide" Target="/ppt/slides/slide52.xml" Id="R68434d40fe334633" /><Relationship Type="http://schemas.openxmlformats.org/officeDocument/2006/relationships/slide" Target="/ppt/slides/slide53.xml" Id="Ra5beb169c961432f" /><Relationship Type="http://schemas.openxmlformats.org/officeDocument/2006/relationships/slide" Target="/ppt/slides/slide54.xml" Id="R69e983e64d8e4949" /><Relationship Type="http://schemas.openxmlformats.org/officeDocument/2006/relationships/slide" Target="/ppt/slides/slide55.xml" Id="R4f13aba6bb654e15" /><Relationship Type="http://schemas.openxmlformats.org/officeDocument/2006/relationships/slide" Target="/ppt/slides/slide56.xml" Id="Rb62bbead87514ece" /><Relationship Type="http://schemas.openxmlformats.org/officeDocument/2006/relationships/slide" Target="/ppt/slides/slide57.xml" Id="R0a8772d641364ec8" /><Relationship Type="http://schemas.openxmlformats.org/officeDocument/2006/relationships/slide" Target="/ppt/slides/slide58.xml" Id="Rf8c13ec6458e42ba" /><Relationship Type="http://schemas.openxmlformats.org/officeDocument/2006/relationships/slide" Target="/ppt/slides/slide59.xml" Id="R9759a171ed784f1e" /><Relationship Type="http://schemas.openxmlformats.org/officeDocument/2006/relationships/slide" Target="/ppt/slides/slide60.xml" Id="R1bcb53cfdd10473a" /><Relationship Type="http://schemas.openxmlformats.org/officeDocument/2006/relationships/slide" Target="/ppt/slides/slide61.xml" Id="R5e91a4df1abb42a6" /><Relationship Type="http://schemas.openxmlformats.org/officeDocument/2006/relationships/slide" Target="/ppt/slides/slide62.xml" Id="R8242f0fbf3774364" /><Relationship Type="http://schemas.openxmlformats.org/officeDocument/2006/relationships/slide" Target="/ppt/slides/slide63.xml" Id="R5bb6146d9ac146a1" /><Relationship Type="http://schemas.openxmlformats.org/officeDocument/2006/relationships/slide" Target="/ppt/slides/slide64.xml" Id="R3c420491728a4ac9" /><Relationship Type="http://schemas.openxmlformats.org/officeDocument/2006/relationships/slide" Target="/ppt/slides/slide65.xml" Id="R16346a979550466d" /><Relationship Type="http://schemas.openxmlformats.org/officeDocument/2006/relationships/slide" Target="/ppt/slides/slide66.xml" Id="Rd1d2ab34f74c44a0" /><Relationship Type="http://schemas.openxmlformats.org/officeDocument/2006/relationships/slide" Target="/ppt/slides/slide67.xml" Id="Rba9755b694454cc4" /><Relationship Type="http://schemas.openxmlformats.org/officeDocument/2006/relationships/slide" Target="/ppt/slides/slide68.xml" Id="Rc09d894fa62e414b" /><Relationship Type="http://schemas.openxmlformats.org/officeDocument/2006/relationships/slide" Target="/ppt/slides/slide69.xml" Id="R245382f05e5d4a44" /><Relationship Type="http://schemas.openxmlformats.org/officeDocument/2006/relationships/slide" Target="/ppt/slides/slide70.xml" Id="R1a2fdc1bf4a54863" /><Relationship Type="http://schemas.openxmlformats.org/officeDocument/2006/relationships/slide" Target="/ppt/slides/slide71.xml" Id="Rdfb7d459231f49ef" /><Relationship Type="http://schemas.openxmlformats.org/officeDocument/2006/relationships/slide" Target="/ppt/slides/slide72.xml" Id="Rba595a02ec3e44e5" /><Relationship Type="http://schemas.openxmlformats.org/officeDocument/2006/relationships/slide" Target="/ppt/slides/slide73.xml" Id="R256e9c7fdda34686" /><Relationship Type="http://schemas.openxmlformats.org/officeDocument/2006/relationships/slide" Target="/ppt/slides/slide74.xml" Id="R427ea5f923104404" /><Relationship Type="http://schemas.openxmlformats.org/officeDocument/2006/relationships/slide" Target="/ppt/slides/slide75.xml" Id="Rc8c7010099224efc" /><Relationship Type="http://schemas.openxmlformats.org/officeDocument/2006/relationships/slide" Target="/ppt/slides/slide76.xml" Id="Rc19b56d3718c40f6" /><Relationship Type="http://schemas.openxmlformats.org/officeDocument/2006/relationships/slide" Target="/ppt/slides/slide77.xml" Id="R0725f1de8c1147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cee70d7a2a4a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940dcf7bb64d1f" /><Relationship Type="http://schemas.openxmlformats.org/officeDocument/2006/relationships/notesMaster" Target="/ppt/notesMasters/notesMaster1.xml" Id="R8fd1967e9b1745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f0404753434ed1" /><Relationship Type="http://schemas.openxmlformats.org/officeDocument/2006/relationships/notesMaster" Target="/ppt/notesMasters/notesMaster1.xml" Id="R82b5b79def3f42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ed6c178fbd45b3" /><Relationship Type="http://schemas.openxmlformats.org/officeDocument/2006/relationships/notesMaster" Target="/ppt/notesMasters/notesMaster1.xml" Id="Rbc60578258884d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28788228f8489e" /><Relationship Type="http://schemas.openxmlformats.org/officeDocument/2006/relationships/notesMaster" Target="/ppt/notesMasters/notesMaster1.xml" Id="Raf073739e54645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b86f8290544caf" /><Relationship Type="http://schemas.openxmlformats.org/officeDocument/2006/relationships/notesMaster" Target="/ppt/notesMasters/notesMaster1.xml" Id="Raa6b1247e89f4c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cb6913e0e5432a" /><Relationship Type="http://schemas.openxmlformats.org/officeDocument/2006/relationships/notesMaster" Target="/ppt/notesMasters/notesMaster1.xml" Id="Rccd67ba0216445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d04b14a7641cc" /><Relationship Type="http://schemas.openxmlformats.org/officeDocument/2006/relationships/notesMaster" Target="/ppt/notesMasters/notesMaster1.xml" Id="R6f51219727664e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411c092c87420f" /><Relationship Type="http://schemas.openxmlformats.org/officeDocument/2006/relationships/notesMaster" Target="/ppt/notesMasters/notesMaster1.xml" Id="R177e50be1bdf48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3a6e56f7f146c4" /><Relationship Type="http://schemas.openxmlformats.org/officeDocument/2006/relationships/notesMaster" Target="/ppt/notesMasters/notesMaster1.xml" Id="R9f1a82fae8ad43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9ca7c853a6491c" /><Relationship Type="http://schemas.openxmlformats.org/officeDocument/2006/relationships/notesMaster" Target="/ppt/notesMasters/notesMaster1.xml" Id="R87617e7c95c94c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182e8155bc429e" /><Relationship Type="http://schemas.openxmlformats.org/officeDocument/2006/relationships/notesMaster" Target="/ppt/notesMasters/notesMaster1.xml" Id="Rc2147e1852834e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aedd26480842e8" /><Relationship Type="http://schemas.openxmlformats.org/officeDocument/2006/relationships/notesMaster" Target="/ppt/notesMasters/notesMaster1.xml" Id="Re36cf215758d4b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003cf69d444a30" /><Relationship Type="http://schemas.openxmlformats.org/officeDocument/2006/relationships/notesMaster" Target="/ppt/notesMasters/notesMaster1.xml" Id="R2a06b3ee857143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1aacb32d6c44ac" /><Relationship Type="http://schemas.openxmlformats.org/officeDocument/2006/relationships/notesMaster" Target="/ppt/notesMasters/notesMaster1.xml" Id="R8036f262071544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2cb882045d4d13" /><Relationship Type="http://schemas.openxmlformats.org/officeDocument/2006/relationships/notesMaster" Target="/ppt/notesMasters/notesMaster1.xml" Id="Rcfe20a1529a04b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763ac53e1d4af1" /><Relationship Type="http://schemas.openxmlformats.org/officeDocument/2006/relationships/notesMaster" Target="/ppt/notesMasters/notesMaster1.xml" Id="R39891156d5f34e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ac1429c382644ae" /><Relationship Type="http://schemas.openxmlformats.org/officeDocument/2006/relationships/notesMaster" Target="/ppt/notesMasters/notesMaster1.xml" Id="R35ad67b456094f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61d332c41846a5" /><Relationship Type="http://schemas.openxmlformats.org/officeDocument/2006/relationships/notesMaster" Target="/ppt/notesMasters/notesMaster1.xml" Id="Rffe7d1f3c08e4b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f1cb2bf9064c61" /><Relationship Type="http://schemas.openxmlformats.org/officeDocument/2006/relationships/notesMaster" Target="/ppt/notesMasters/notesMaster1.xml" Id="R026e57ed0ba6419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c14ad93a694d3e" /><Relationship Type="http://schemas.openxmlformats.org/officeDocument/2006/relationships/notesMaster" Target="/ppt/notesMasters/notesMaster1.xml" Id="R4f616927d5bd4ae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bcf14a96e204775" /><Relationship Type="http://schemas.openxmlformats.org/officeDocument/2006/relationships/notesMaster" Target="/ppt/notesMasters/notesMaster1.xml" Id="Rbad50b2257274f8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5e57fa01a84951" /><Relationship Type="http://schemas.openxmlformats.org/officeDocument/2006/relationships/notesMaster" Target="/ppt/notesMasters/notesMaster1.xml" Id="R4563b3c784ad4a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4a2e1d546f4ac7" /><Relationship Type="http://schemas.openxmlformats.org/officeDocument/2006/relationships/notesMaster" Target="/ppt/notesMasters/notesMaster1.xml" Id="Rb8bd5407f3d7436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d04574728a54a93" /><Relationship Type="http://schemas.openxmlformats.org/officeDocument/2006/relationships/notesMaster" Target="/ppt/notesMasters/notesMaster1.xml" Id="R96f219e914a6439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6c32561167545c2" /><Relationship Type="http://schemas.openxmlformats.org/officeDocument/2006/relationships/notesMaster" Target="/ppt/notesMasters/notesMaster1.xml" Id="R5d11c9a5a6e3488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073e2129d304ceb" /><Relationship Type="http://schemas.openxmlformats.org/officeDocument/2006/relationships/notesMaster" Target="/ppt/notesMasters/notesMaster1.xml" Id="R22ab7c8a4fd74b9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9f9cb42b01465e" /><Relationship Type="http://schemas.openxmlformats.org/officeDocument/2006/relationships/notesMaster" Target="/ppt/notesMasters/notesMaster1.xml" Id="R34b18df3654440a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86ed067215040fb" /><Relationship Type="http://schemas.openxmlformats.org/officeDocument/2006/relationships/notesMaster" Target="/ppt/notesMasters/notesMaster1.xml" Id="Rebfc4b2424564c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f683af94f8c46d7" /><Relationship Type="http://schemas.openxmlformats.org/officeDocument/2006/relationships/notesMaster" Target="/ppt/notesMasters/notesMaster1.xml" Id="Rec0e25e2749c4eb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406019eb1d24c7b" /><Relationship Type="http://schemas.openxmlformats.org/officeDocument/2006/relationships/notesMaster" Target="/ppt/notesMasters/notesMaster1.xml" Id="R8e7187def2634b6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ddcd2860844a18" /><Relationship Type="http://schemas.openxmlformats.org/officeDocument/2006/relationships/notesMaster" Target="/ppt/notesMasters/notesMaster1.xml" Id="R06364e526c674dd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a35ccafd644640" /><Relationship Type="http://schemas.openxmlformats.org/officeDocument/2006/relationships/notesMaster" Target="/ppt/notesMasters/notesMaster1.xml" Id="R75b8e7dfffdc48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09ee242fc9741b1" /><Relationship Type="http://schemas.openxmlformats.org/officeDocument/2006/relationships/notesMaster" Target="/ppt/notesMasters/notesMaster1.xml" Id="Re8d8de26ba96475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40fc86f5f6f4cb7" /><Relationship Type="http://schemas.openxmlformats.org/officeDocument/2006/relationships/notesMaster" Target="/ppt/notesMasters/notesMaster1.xml" Id="Rfd455db10b44439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4707b96a0742f7" /><Relationship Type="http://schemas.openxmlformats.org/officeDocument/2006/relationships/notesMaster" Target="/ppt/notesMasters/notesMaster1.xml" Id="Rd1288ba02bc34cf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343976900b4c76" /><Relationship Type="http://schemas.openxmlformats.org/officeDocument/2006/relationships/notesMaster" Target="/ppt/notesMasters/notesMaster1.xml" Id="R6baef910135f45c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0e14da8f772419f" /><Relationship Type="http://schemas.openxmlformats.org/officeDocument/2006/relationships/notesMaster" Target="/ppt/notesMasters/notesMaster1.xml" Id="R52b66e135632421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d59d42fd3504500" /><Relationship Type="http://schemas.openxmlformats.org/officeDocument/2006/relationships/notesMaster" Target="/ppt/notesMasters/notesMaster1.xml" Id="Ra2b533001688429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ad6f18f1b04424e" /><Relationship Type="http://schemas.openxmlformats.org/officeDocument/2006/relationships/notesMaster" Target="/ppt/notesMasters/notesMaster1.xml" Id="R89028a7f74ee4de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8fa4637929d4abf" /><Relationship Type="http://schemas.openxmlformats.org/officeDocument/2006/relationships/notesMaster" Target="/ppt/notesMasters/notesMaster1.xml" Id="R60e541c3a575468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80ff6ad814a47ef" /><Relationship Type="http://schemas.openxmlformats.org/officeDocument/2006/relationships/notesMaster" Target="/ppt/notesMasters/notesMaster1.xml" Id="Ra323d74182144cb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990be5a09814909" /><Relationship Type="http://schemas.openxmlformats.org/officeDocument/2006/relationships/notesMaster" Target="/ppt/notesMasters/notesMaster1.xml" Id="R348bca1f8e48409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744a7d0aac54ea2" /><Relationship Type="http://schemas.openxmlformats.org/officeDocument/2006/relationships/notesMaster" Target="/ppt/notesMasters/notesMaster1.xml" Id="Rbfb8a949cc5f48c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df1d0d99c724bd8" /><Relationship Type="http://schemas.openxmlformats.org/officeDocument/2006/relationships/notesMaster" Target="/ppt/notesMasters/notesMaster1.xml" Id="Rbc88743bab8b469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da7debd15c64633" /><Relationship Type="http://schemas.openxmlformats.org/officeDocument/2006/relationships/notesMaster" Target="/ppt/notesMasters/notesMaster1.xml" Id="R688e337867e7465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8dea6eae6244b26" /><Relationship Type="http://schemas.openxmlformats.org/officeDocument/2006/relationships/notesMaster" Target="/ppt/notesMasters/notesMaster1.xml" Id="R3988ab3591da461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2530f0f92fb45cc" /><Relationship Type="http://schemas.openxmlformats.org/officeDocument/2006/relationships/notesMaster" Target="/ppt/notesMasters/notesMaster1.xml" Id="Rae8d66d1ff7d4a1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a2b9170545b4ebf" /><Relationship Type="http://schemas.openxmlformats.org/officeDocument/2006/relationships/notesMaster" Target="/ppt/notesMasters/notesMaster1.xml" Id="R22052dd8db544816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dd072a3cf00a46a6" /><Relationship Type="http://schemas.openxmlformats.org/officeDocument/2006/relationships/notesMaster" Target="/ppt/notesMasters/notesMaster1.xml" Id="R5dfa87b718b44d1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04c398c8f2748c1" /><Relationship Type="http://schemas.openxmlformats.org/officeDocument/2006/relationships/notesMaster" Target="/ppt/notesMasters/notesMaster1.xml" Id="Rf3ad2e8e9ec14bf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859cb1d20ea4f21" /><Relationship Type="http://schemas.openxmlformats.org/officeDocument/2006/relationships/notesMaster" Target="/ppt/notesMasters/notesMaster1.xml" Id="R829bcb3e31e9437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340300054294872" /><Relationship Type="http://schemas.openxmlformats.org/officeDocument/2006/relationships/notesMaster" Target="/ppt/notesMasters/notesMaster1.xml" Id="R901128d95efb400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cf231d71e454ddd" /><Relationship Type="http://schemas.openxmlformats.org/officeDocument/2006/relationships/notesMaster" Target="/ppt/notesMasters/notesMaster1.xml" Id="Raf0580ee76704b8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034e581399094a42" /><Relationship Type="http://schemas.openxmlformats.org/officeDocument/2006/relationships/notesMaster" Target="/ppt/notesMasters/notesMaster1.xml" Id="R2c4e1336d2074b8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0083a336e474789" /><Relationship Type="http://schemas.openxmlformats.org/officeDocument/2006/relationships/notesMaster" Target="/ppt/notesMasters/notesMaster1.xml" Id="Rfc5693ac4a69482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72eb68538050451e" /><Relationship Type="http://schemas.openxmlformats.org/officeDocument/2006/relationships/notesMaster" Target="/ppt/notesMasters/notesMaster1.xml" Id="R8b31fa7cb7314991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7bd2006e10b4a30" /><Relationship Type="http://schemas.openxmlformats.org/officeDocument/2006/relationships/notesMaster" Target="/ppt/notesMasters/notesMaster1.xml" Id="R130b813d375a4c78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669c59dd3924755" /><Relationship Type="http://schemas.openxmlformats.org/officeDocument/2006/relationships/notesMaster" Target="/ppt/notesMasters/notesMaster1.xml" Id="R7274fc259080420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cfd288fc58042bd" /><Relationship Type="http://schemas.openxmlformats.org/officeDocument/2006/relationships/notesMaster" Target="/ppt/notesMasters/notesMaster1.xml" Id="Rffa9fac4562d41a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2e0b924c1db4dce" /><Relationship Type="http://schemas.openxmlformats.org/officeDocument/2006/relationships/notesMaster" Target="/ppt/notesMasters/notesMaster1.xml" Id="R48a6615986674a6a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0ececb03b2840a3" /><Relationship Type="http://schemas.openxmlformats.org/officeDocument/2006/relationships/notesMaster" Target="/ppt/notesMasters/notesMaster1.xml" Id="R910ae52d77494a2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cf43ab56b654abe" /><Relationship Type="http://schemas.openxmlformats.org/officeDocument/2006/relationships/notesMaster" Target="/ppt/notesMasters/notesMaster1.xml" Id="R46e6f545aacf4a3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5d8535a93d04987" /><Relationship Type="http://schemas.openxmlformats.org/officeDocument/2006/relationships/notesMaster" Target="/ppt/notesMasters/notesMaster1.xml" Id="R5b3e08057e4746c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b2fa0aa86524926" /><Relationship Type="http://schemas.openxmlformats.org/officeDocument/2006/relationships/notesMaster" Target="/ppt/notesMasters/notesMaster1.xml" Id="Rf8a6581acf2a40b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4a39d3d1a92847e3" /><Relationship Type="http://schemas.openxmlformats.org/officeDocument/2006/relationships/notesMaster" Target="/ppt/notesMasters/notesMaster1.xml" Id="Rf29b8f9053fa4123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ace9a88336f47db" /><Relationship Type="http://schemas.openxmlformats.org/officeDocument/2006/relationships/notesMaster" Target="/ppt/notesMasters/notesMaster1.xml" Id="R12b26ee8aab244a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fd7e71d99fa8402a" /><Relationship Type="http://schemas.openxmlformats.org/officeDocument/2006/relationships/notesMaster" Target="/ppt/notesMasters/notesMaster1.xml" Id="Rddcc5e489357427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d2b673137fa4f1a" /><Relationship Type="http://schemas.openxmlformats.org/officeDocument/2006/relationships/notesMaster" Target="/ppt/notesMasters/notesMaster1.xml" Id="R7334fea26120437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ae666960835492f" /><Relationship Type="http://schemas.openxmlformats.org/officeDocument/2006/relationships/notesMaster" Target="/ppt/notesMasters/notesMaster1.xml" Id="Rd89f5d13c2914f6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7df7a126b20b45bb" /><Relationship Type="http://schemas.openxmlformats.org/officeDocument/2006/relationships/notesMaster" Target="/ppt/notesMasters/notesMaster1.xml" Id="R010042f090f941b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f798caef2ebb444a" /><Relationship Type="http://schemas.openxmlformats.org/officeDocument/2006/relationships/notesMaster" Target="/ppt/notesMasters/notesMaster1.xml" Id="Rc6a9ea78d5544d26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d4425292b583483f" /><Relationship Type="http://schemas.openxmlformats.org/officeDocument/2006/relationships/notesMaster" Target="/ppt/notesMasters/notesMaster1.xml" Id="Rcd5f302fad0643bb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b4ff02323b643fa" /><Relationship Type="http://schemas.openxmlformats.org/officeDocument/2006/relationships/notesMaster" Target="/ppt/notesMasters/notesMaster1.xml" Id="Rd58a6d51d5834048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12629e074254cb4" /><Relationship Type="http://schemas.openxmlformats.org/officeDocument/2006/relationships/notesMaster" Target="/ppt/notesMasters/notesMaster1.xml" Id="Rdf521a96fe7a4c2a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7dae67d7e974e27" /><Relationship Type="http://schemas.openxmlformats.org/officeDocument/2006/relationships/notesMaster" Target="/ppt/notesMasters/notesMaster1.xml" Id="Rfa4f6d260f1f41a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7796aa678a8e495e" /><Relationship Type="http://schemas.openxmlformats.org/officeDocument/2006/relationships/notesMaster" Target="/ppt/notesMasters/notesMaster1.xml" Id="R4a3299582c8745b5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046aa7089944ee0" /><Relationship Type="http://schemas.openxmlformats.org/officeDocument/2006/relationships/notesMaster" Target="/ppt/notesMasters/notesMaster1.xml" Id="R2bea7a60f40446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projesini AI engineer yetkinliklerini öğrenmek için nasıl kullanacağımızı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İş ilanlarında rol isimleri değişebilir. Bu sunumda AI engineer'i model bilgisi ile üretim yazılımı arasında köprü kuran mühendis olarak ele alıyoruz.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 örnekleri: https://www.indeed.com/viewjob?jk=457121afc1405134 ve https://www.bytegurus.io/careers/junior-machine-learning-engineer. Bu slayt tek bir ilana değil, ortak beklentilerin sentezine dayanır.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Yetkinlikleri dört başlıkta gruplayarak öğrenme sırasını görünür hale getiriyoruz. Her bölüm ChessLens’te çalışan bir artefaktla sonuçlanacak.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akışta LLM oyun kurallarını belirlemiyor. python-chess ve Stockfish güvenilir kaynak; LLM açıklama katmanı.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ders küçük ama ölçülebilir bir kazanımla kapanacak. Bir konuyu açıklayamıyor veya hata ayıklayamıyorsak sonraki konuya geçmeyeceğiz.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bölümün sonunda öğrenme hedefi: rolü, yetkinlikleri ve ChessLens’in bunları nasıl kanıtladığını anlatabilmek.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 Python syntax'ını ezberletmez. Python ve FastAPI'nin AI ürünündeki sorumluluklarını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eğitimde hedef, syntax ezberi değil, kod okuma, değiştirme ve hata ayıklama yeteneğidir.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İstek akışını katmanlara ayırmak, hata ayıklama ve code review için zihinsel model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GameService burada microservice değildir. Aynı Python uygulamasındaki domain sınıfıdır.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slayt, AI tarafından yazılmış backend kodunu okurken kullanılacak pratik yöntemdir: input, state transition, external analysis,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contract, frontend ile backend arasındaki anlaşmadır. Kritik alanların kaynağı backend'dir.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2, Python syntax'ından çok servis sınırları, request lifecycle ve test edilebilirlik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ChessLens bileşenlerinin farklı satranç gösterimlerini neden kullandığını açıklar.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SAN, UCI ve PGN birbirinin alternatifi değildir. Her biri farklı tüketici için seçilir.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FEN, pozisyon snapshot'ıdır. Review geçmişi için SAN hamle listesi veya PGN ayrıca saklanmalıdır.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SAN bağlama bağlıdır; iki at aynı kareye gidebiliyorsa Nbf3 veya Ngf3 gibi ayrıntı eklenir. UCI makine için daha kesindir.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ChessLens'in canlı oyununda FEN yeterlidir. Geçmiş hamle incelemesi için PGN veya SAN listesi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sözleşme, frontend, domain, engine ve LLM katmanlarını birbirinden ayırır.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bölümdeki ana yetkinlik, satranç notasyonunu ezberlemek değil, veri sözleşmesini doğru katmana bağlamaktır.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bir hamle isteğinin nasıl doğrulandığını ve sistemin hata sırasında state'i korumasını inceliyoruz.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422 istek şeması hatasıdır. 400 ise istek okunabilir olduğu halde domain kuralına uymaz.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mutation, mevcut nesnenin değişmesidir. Geçersiz hamle state'i değiştirmemelidir.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Hata kodu, sorunun kaynağını ve istemcinin ne yapması gerektiğini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 hızlı ve izole olmalıdır. Harici motoru test double ile değiştirerek API davranışını ölçeriz.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 amacı satırları çalıştırmak değil, sistem davranışı hakkında güvenilir bir iddia kurmaktır.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4'ün hedefi, test ve hata yönetimini AI ürününün güvenilirlik temeli olarak anlatabilmektir.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bölümde Stockfish'i yeniden yazmıyoruz; Python servisinin UCI üzerinden Stockfish sürecini güvenilir biçimde yönetmesini öğreniyoruz.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Araçların görevini ayırmak, hallucination ve pedagojik kalite riskini sınırlar.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ayrı bir işletim sistemi sürecidir. Adapter bu sürecin yaşam döngüsünü ve çıktısını yönetir.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Adapter pattern, uygulama kodunu harici süreç API'sine bağlamadan korur. Testte fake engine bu sınırı taklit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Stockfish skorları mate veya centipawn olabilir. Move analyzer önce kind alanını kontrol eder.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Harici süreçler güvenilir varsayılmaz. Availability, timeout, concurrency ve output validation birlikte düşünülür.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5, harici AI/ML aracını üretim servisine bağlama yetkinliğini görünür kılar.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Stockfish değerlendirmesini hamle kalitesi ve pedagojik geri bildirim için nasıl işlediğimizi anlatır.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analysis için before ve after evaluation gerekir. Bu, hamlenin etkisini ölçmenin temelidir.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Skorlar Beyaz perspektifinde tutulur. Bu nedenle +0.30’dan +0.80’e geçiş Beyaz için 50 cp kazanç, Siyah için 50 cp kayıptır. Formül, hamleyi yapan oyuncunun kaybını hesaplar.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eşikler MVP için açıklanabilir sabitlerdir. Daha sonra kullanıcı seviyesine, time control'e ve veri setine göre kalibre edilebilir.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 değerlendirmesinin anlamı centipawn'dan farklıdır. Ayrı branch kullanmak daha doğru ve açıklanabilirdir.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LLM'e ham sonuç değil, normalize edilmiş ve sınıflandırılmış bir analysis DTO'su veririz.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bölüm, model çıktısını ürün davranışına çevirmek ve ölçülebilir kurallar koymak üzerine kuruludur.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burada karar otoritesi değil, yapılandırılmış motor analizini açıklayan bir katmandır.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Bu, engine-grounded generation'dır. LLM'e sınırlandırılmış ve doğrulanmış context verilir.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Allowlist, prompt'a hangi alanların gireceğini bilinçli biçimde sınırlar. Her şeyi modele vermek daha iyi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Structured output, model ile uygulama arasına bir data contract koyar. JSON syntax'ı tek başına yetmez; alan ve değerler de doğrulanır.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yalnızca açıklama katmanını değiştirir. GameService ve Stockfish sonucu korunur.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MVP'de retrieval yok; engine-grounded generation var. Evaluation ise ayrı bir mühendislik katmanıdır.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7, prompt yazmaktan daha geniş olan LLM application engineering yetkinliğini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ürünlerinde demo başarısı ile güvenilir kalite ölçümü farklıdır. Bu bölüm evaluation yaklaşımını kurar.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Evaluation, modelin veya AI akışının aynı test setinde zaman içinde bozulup bozulmadığını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kaydı, engine gerçeği ile açıklama beklentisini ayırır. Böylece farklı katmanları ayrı ölçebiliriz.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quality, teknik doğruluk ve kullanıcıya yararı birlikte ele alır. Tek bir accuracy sayısı yeterli değildir.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şeyi LLM'e puanlatmak circular evaluation riski oluşturur. Deterministic checks ve insan değerlendirmesi birlikte kullanılmalıdır.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Evaluation'ı CI'a bağlamak, prompt veya model değişikliğinde kalite gerilemesini görünür yapar.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8, AI engineer'in model çağrısından kalite mühendisliğine geçişini gösterir.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engineer için teslimat; yalnızca Python kodu değil, tekrarlanabilir çalışma ortamı, test kapısı ve izlenebilir servis demektir.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 bir sihirli güvenilirlik katmanı değildir. Ancak bağımlılıkları ve başlatma adımlarını standartlaştırarak debug alanını küçültür.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Dockerfile build-time ile runtime sorumluluklarını ayırır. Secret gibi değerler image içine gömülmemeli; runtime environment üzerinden verilmelidir.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Ortam ayrımı yalnızca deployment konusu değildir. Testlerde timeout ve engine path gibi bağımlılıkları kontrol edebilmek, hızlı ve güvenilir feedback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CI, ekipte ortak kalite eşiği oluşturur. Önce ucuz ve hızlı kontroller, sonra daha pahalı evaluation veya image build adımları çalıştırılabilir.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Kullanıcı, engine timeout olduğunda boş veya uydurma açıklama görmemeli. Hata, log ve response contract ile görünür hale getirilmelidir.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9, MVP kodunu çalıştırılabilir ve değerlendirilebilir bir teslimata bağlar. Sonraki adım güvenlik ve maliyet guardrail'leridir.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guardrail’leri, sistemi her durumda kusursuz yapmaz. Hatalı, pahalı veya kötüye kullanılabilir davranışları sınırlamayı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Threat model yalnızca güvenlik ekibinin işi değildir. AI akışında girdinin, modelin ve dış süreçlerin her biri farklı failure mode üretir.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injection riskini yalnızca daha iyi bir prompt yazarak çözemezsin. Kritik yetki ve doğruluk kontrolleri uygulama kodunda kalmalıdır.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MVP’de bile secret ve log politikası belirlemek, daha sonra pahalı bir veri temizliği yapmaktan kolaydır. Kullanıcı verisini varsayılan olarak sınırsız saklamamak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Cost control, model sağlayıcısına göre değişebilir. Ancak token, latency, retry ve concurrency ölçümleri her sağlayıcıda temel sinyallerdir.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Matriste her risk için kontrol ve kontrollü failure davranışı birlikte yazılır. Bu, security review ve incident debugging sırasında ortak dil sağlar.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10, üretim ortamında güvenilir AI davranışının üç boyutunu bağlar: güvenlik, maliyet ve kontrollü hata.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İlk on bölümdeki parçalar burada tek bir dikey akışta birleşir. Amaç, bir isteğin sistem içinde nereden geçip hangi DTO ile çıktığını izleyebilmektir.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UI’dan FEN kabul etmek yerine hamle niyetini kabul etmek daha güvenlidir. Server state’i yeniden üretir ve response’a gameId ile moveId ekler.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Dikey slice, ürünün küçük ama gerçek bir uçtan uca parçasıdır. Her adımın girdisi ve çıktısı belirli olursa sistemi test etmek kolaylaşır.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LLM’e ham Stockfish çıktısı vermek yerine MoveAnalysis gibi normalize edilmiş bir sözleşme kullanırız. Bu, test ve debugging için kritik sınırdır.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Her hata aynı şekilde ele alınmaz. Bazı hatalar request’i durdurur, bazıları güvenli fallback üretir, bazıları da client tarafında sessizce atlanır.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testler tek fonksiyonu, integration testler gerçek sınırı, evaluation ise AI davranışını ölçer. Üçünü aynı pipeline içinde tutmak gerekir.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Bölüm 11, önceki konuları gerçek bir ürün akışında birleştirir. Buradan sonra amaç yeni kavram eklemekten çok, mevcut sınırları kodda uygulamak ve review etmektir.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9ef34e18b49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079adfe506433d" /><Relationship Type="http://schemas.openxmlformats.org/officeDocument/2006/relationships/slideLayout" Target="/ppt/slideLayouts/slideLayout1.xml" Id="R86486730213647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486730213647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04f36218b409b" /><Relationship Type="http://schemas.openxmlformats.org/officeDocument/2006/relationships/notesSlide" Target="/ppt/notesSlides/notesSlide1.xml" Id="R6eb87c9dd38f4d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18a9a14d4167" /><Relationship Type="http://schemas.openxmlformats.org/officeDocument/2006/relationships/notesSlide" Target="/ppt/notesSlides/notesSlide2.xml" Id="R08e8c6c917a948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fee0e1a024516" /><Relationship Type="http://schemas.openxmlformats.org/officeDocument/2006/relationships/notesSlide" Target="/ppt/notesSlides/notesSlide3.xml" Id="Rafc48582d86145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6802b02c64bb7" /><Relationship Type="http://schemas.openxmlformats.org/officeDocument/2006/relationships/notesSlide" Target="/ppt/notesSlides/notesSlide4.xml" Id="Ra159891e4da54f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a81417ae144496" /><Relationship Type="http://schemas.openxmlformats.org/officeDocument/2006/relationships/notesSlide" Target="/ppt/notesSlides/notesSlide5.xml" Id="R7d42c509ba404a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8e077d7d34fe1" /><Relationship Type="http://schemas.openxmlformats.org/officeDocument/2006/relationships/notesSlide" Target="/ppt/notesSlides/notesSlide6.xml" Id="R22db2b2ceb5e4d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4eeb2eb6f4597" /><Relationship Type="http://schemas.openxmlformats.org/officeDocument/2006/relationships/notesSlide" Target="/ppt/notesSlides/notesSlide7.xml" Id="R6a474fa482bc45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038799de247cd" /><Relationship Type="http://schemas.openxmlformats.org/officeDocument/2006/relationships/notesSlide" Target="/ppt/notesSlides/notesSlide8.xml" Id="R0958e1701eae4b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f30002ef44bb5" /><Relationship Type="http://schemas.openxmlformats.org/officeDocument/2006/relationships/notesSlide" Target="/ppt/notesSlides/notesSlide9.xml" Id="Rbdc77c1b50b940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4f28c5ef04b4b" /><Relationship Type="http://schemas.openxmlformats.org/officeDocument/2006/relationships/notesSlide" Target="/ppt/notesSlides/notesSlide10.xml" Id="Rea9e069d75524d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7bbebaa194650" /><Relationship Type="http://schemas.openxmlformats.org/officeDocument/2006/relationships/notesSlide" Target="/ppt/notesSlides/notesSlide11.xml" Id="R202d2164315148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e59e0e2b349fa" /><Relationship Type="http://schemas.openxmlformats.org/officeDocument/2006/relationships/notesSlide" Target="/ppt/notesSlides/notesSlide12.xml" Id="R65e88129284d4d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c56d723e84bb8" /><Relationship Type="http://schemas.openxmlformats.org/officeDocument/2006/relationships/notesSlide" Target="/ppt/notesSlides/notesSlide13.xml" Id="R7bbd5fa117704b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3c8cc47984909" /><Relationship Type="http://schemas.openxmlformats.org/officeDocument/2006/relationships/notesSlide" Target="/ppt/notesSlides/notesSlide14.xml" Id="R501bec7fad7d4d5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8330ae36141b0" /><Relationship Type="http://schemas.openxmlformats.org/officeDocument/2006/relationships/notesSlide" Target="/ppt/notesSlides/notesSlide15.xml" Id="Rb4701df2e188499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0a0c2bb774fa9" /><Relationship Type="http://schemas.openxmlformats.org/officeDocument/2006/relationships/notesSlide" Target="/ppt/notesSlides/notesSlide16.xml" Id="Rc5882af0111c47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dd14f9d9e4644" /><Relationship Type="http://schemas.openxmlformats.org/officeDocument/2006/relationships/notesSlide" Target="/ppt/notesSlides/notesSlide17.xml" Id="R85d7d8bf522a4e6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1ed67b61d40a8" /><Relationship Type="http://schemas.openxmlformats.org/officeDocument/2006/relationships/notesSlide" Target="/ppt/notesSlides/notesSlide18.xml" Id="R38158d635c884d1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b4e2f3ba14a4c" /><Relationship Type="http://schemas.openxmlformats.org/officeDocument/2006/relationships/notesSlide" Target="/ppt/notesSlides/notesSlide19.xml" Id="Re01589917df947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00c388298408e" /><Relationship Type="http://schemas.openxmlformats.org/officeDocument/2006/relationships/notesSlide" Target="/ppt/notesSlides/notesSlide20.xml" Id="R463cf7c59e7c497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59a0360b5410a" /><Relationship Type="http://schemas.openxmlformats.org/officeDocument/2006/relationships/notesSlide" Target="/ppt/notesSlides/notesSlide21.xml" Id="Ra13aa2c3b36941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6a305c16144f2" /><Relationship Type="http://schemas.openxmlformats.org/officeDocument/2006/relationships/notesSlide" Target="/ppt/notesSlides/notesSlide22.xml" Id="Rc2be893a5fb040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89cfa7b039473d" /><Relationship Type="http://schemas.openxmlformats.org/officeDocument/2006/relationships/notesSlide" Target="/ppt/notesSlides/notesSlide23.xml" Id="R3bc89fc0dcfd4f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81976ec9c4175" /><Relationship Type="http://schemas.openxmlformats.org/officeDocument/2006/relationships/notesSlide" Target="/ppt/notesSlides/notesSlide24.xml" Id="Rcfd327788e7d4f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5d19ead9546ec" /><Relationship Type="http://schemas.openxmlformats.org/officeDocument/2006/relationships/notesSlide" Target="/ppt/notesSlides/notesSlide25.xml" Id="Ra872591b33bc470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5e59e5d3843a0" /><Relationship Type="http://schemas.openxmlformats.org/officeDocument/2006/relationships/notesSlide" Target="/ppt/notesSlides/notesSlide26.xml" Id="Ra1dc026700864be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92489e05c4167" /><Relationship Type="http://schemas.openxmlformats.org/officeDocument/2006/relationships/notesSlide" Target="/ppt/notesSlides/notesSlide27.xml" Id="R6e44d921a6de496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6bba1a57847ac" /><Relationship Type="http://schemas.openxmlformats.org/officeDocument/2006/relationships/notesSlide" Target="/ppt/notesSlides/notesSlide28.xml" Id="R4835b7e1ea9f40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b346f42a7474b" /><Relationship Type="http://schemas.openxmlformats.org/officeDocument/2006/relationships/notesSlide" Target="/ppt/notesSlides/notesSlide29.xml" Id="R47bf4f6167934be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2e83457b541ff" /><Relationship Type="http://schemas.openxmlformats.org/officeDocument/2006/relationships/notesSlide" Target="/ppt/notesSlides/notesSlide30.xml" Id="R8e338ce4d1544f4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95892251548e1" /><Relationship Type="http://schemas.openxmlformats.org/officeDocument/2006/relationships/notesSlide" Target="/ppt/notesSlides/notesSlide31.xml" Id="R7e687966c9a043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437f935174ade" /><Relationship Type="http://schemas.openxmlformats.org/officeDocument/2006/relationships/notesSlide" Target="/ppt/notesSlides/notesSlide32.xml" Id="R204787ded9164a2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b67648238453c" /><Relationship Type="http://schemas.openxmlformats.org/officeDocument/2006/relationships/notesSlide" Target="/ppt/notesSlides/notesSlide33.xml" Id="Ra96a98c79ecd42e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b71383b224b4b" /><Relationship Type="http://schemas.openxmlformats.org/officeDocument/2006/relationships/notesSlide" Target="/ppt/notesSlides/notesSlide34.xml" Id="R2178da4691d84bd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2f10334284404" /><Relationship Type="http://schemas.openxmlformats.org/officeDocument/2006/relationships/notesSlide" Target="/ppt/notesSlides/notesSlide35.xml" Id="Rda0ff6dd99914b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01e77659e45ec" /><Relationship Type="http://schemas.openxmlformats.org/officeDocument/2006/relationships/notesSlide" Target="/ppt/notesSlides/notesSlide36.xml" Id="R9ed15d0c66964b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44cfe9ac640a6" /><Relationship Type="http://schemas.openxmlformats.org/officeDocument/2006/relationships/notesSlide" Target="/ppt/notesSlides/notesSlide37.xml" Id="R4fa3e383184f4f1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b49213c52430b" /><Relationship Type="http://schemas.openxmlformats.org/officeDocument/2006/relationships/notesSlide" Target="/ppt/notesSlides/notesSlide38.xml" Id="Rb7fafacfd3ff426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ee3a2f2ce4fa5" /><Relationship Type="http://schemas.openxmlformats.org/officeDocument/2006/relationships/notesSlide" Target="/ppt/notesSlides/notesSlide39.xml" Id="R43f6c994547a460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0d872c8864fc0" /><Relationship Type="http://schemas.openxmlformats.org/officeDocument/2006/relationships/notesSlide" Target="/ppt/notesSlides/notesSlide40.xml" Id="R61b5b6a1a1a74c5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ac0f908bb4db8" /><Relationship Type="http://schemas.openxmlformats.org/officeDocument/2006/relationships/notesSlide" Target="/ppt/notesSlides/notesSlide41.xml" Id="R3c36ad90627e4b1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dc3d6a26a44d5" /><Relationship Type="http://schemas.openxmlformats.org/officeDocument/2006/relationships/notesSlide" Target="/ppt/notesSlides/notesSlide42.xml" Id="R8f6d324a71f6469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84cb65294096" /><Relationship Type="http://schemas.openxmlformats.org/officeDocument/2006/relationships/notesSlide" Target="/ppt/notesSlides/notesSlide43.xml" Id="R5e8e76d22036467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ffa19feeb48f0" /><Relationship Type="http://schemas.openxmlformats.org/officeDocument/2006/relationships/notesSlide" Target="/ppt/notesSlides/notesSlide44.xml" Id="R45df1edb50ae46c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eb52dee874c50" /><Relationship Type="http://schemas.openxmlformats.org/officeDocument/2006/relationships/notesSlide" Target="/ppt/notesSlides/notesSlide45.xml" Id="Rdb3e78ac692048f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f2edcea8466b" /><Relationship Type="http://schemas.openxmlformats.org/officeDocument/2006/relationships/notesSlide" Target="/ppt/notesSlides/notesSlide46.xml" Id="R753b635d224e431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582e39ef24f03" /><Relationship Type="http://schemas.openxmlformats.org/officeDocument/2006/relationships/notesSlide" Target="/ppt/notesSlides/notesSlide47.xml" Id="R5f3faa68abee421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d57aea25549d2" /><Relationship Type="http://schemas.openxmlformats.org/officeDocument/2006/relationships/notesSlide" Target="/ppt/notesSlides/notesSlide48.xml" Id="Rbeb0d6a7c5dd4f9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bdadebd524ca0" /><Relationship Type="http://schemas.openxmlformats.org/officeDocument/2006/relationships/notesSlide" Target="/ppt/notesSlides/notesSlide49.xml" Id="R476a610dc31646c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60e9cc7854567" /><Relationship Type="http://schemas.openxmlformats.org/officeDocument/2006/relationships/notesSlide" Target="/ppt/notesSlides/notesSlide50.xml" Id="R5ec46e2734a14b1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4b620ae1e4151" /><Relationship Type="http://schemas.openxmlformats.org/officeDocument/2006/relationships/notesSlide" Target="/ppt/notesSlides/notesSlide51.xml" Id="R45606f478af6426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d755fd254a99" /><Relationship Type="http://schemas.openxmlformats.org/officeDocument/2006/relationships/notesSlide" Target="/ppt/notesSlides/notesSlide52.xml" Id="R2deaa900a7ff4bd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fdc70eaae4fbe" /><Relationship Type="http://schemas.openxmlformats.org/officeDocument/2006/relationships/notesSlide" Target="/ppt/notesSlides/notesSlide53.xml" Id="R8459669d20ab48e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3575bc28e4402" /><Relationship Type="http://schemas.openxmlformats.org/officeDocument/2006/relationships/notesSlide" Target="/ppt/notesSlides/notesSlide54.xml" Id="Rcb4946ba30664c4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d910cb86844a0" /><Relationship Type="http://schemas.openxmlformats.org/officeDocument/2006/relationships/notesSlide" Target="/ppt/notesSlides/notesSlide55.xml" Id="R37fedd2487fc46d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6355a6d734b79" /><Relationship Type="http://schemas.openxmlformats.org/officeDocument/2006/relationships/notesSlide" Target="/ppt/notesSlides/notesSlide56.xml" Id="R067b10062a114a9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65a17efda4477" /><Relationship Type="http://schemas.openxmlformats.org/officeDocument/2006/relationships/notesSlide" Target="/ppt/notesSlides/notesSlide57.xml" Id="R7e1d35f30e2c4fc3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7c043aec743e8" /><Relationship Type="http://schemas.openxmlformats.org/officeDocument/2006/relationships/notesSlide" Target="/ppt/notesSlides/notesSlide58.xml" Id="Ra6962203f59c4e9e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a2a8da64242cf" /><Relationship Type="http://schemas.openxmlformats.org/officeDocument/2006/relationships/notesSlide" Target="/ppt/notesSlides/notesSlide59.xml" Id="R0555fd78fc584744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77de69e714747" /><Relationship Type="http://schemas.openxmlformats.org/officeDocument/2006/relationships/notesSlide" Target="/ppt/notesSlides/notesSlide60.xml" Id="R269b683dca32448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3db630f66498d" /><Relationship Type="http://schemas.openxmlformats.org/officeDocument/2006/relationships/notesSlide" Target="/ppt/notesSlides/notesSlide61.xml" Id="Rd9bbf3814ad7435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3cbed331f4fc2" /><Relationship Type="http://schemas.openxmlformats.org/officeDocument/2006/relationships/notesSlide" Target="/ppt/notesSlides/notesSlide62.xml" Id="R877f68f19faf402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10c83d6804fc6" /><Relationship Type="http://schemas.openxmlformats.org/officeDocument/2006/relationships/notesSlide" Target="/ppt/notesSlides/notesSlide63.xml" Id="Rde0ed4cdcb4c499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7bbcc7abf4df5" /><Relationship Type="http://schemas.openxmlformats.org/officeDocument/2006/relationships/notesSlide" Target="/ppt/notesSlides/notesSlide64.xml" Id="Rec32e2ee9fb94dd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e4d5a49844634" /><Relationship Type="http://schemas.openxmlformats.org/officeDocument/2006/relationships/notesSlide" Target="/ppt/notesSlides/notesSlide65.xml" Id="Rd2fa6176aae54495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bc26b88374f00" /><Relationship Type="http://schemas.openxmlformats.org/officeDocument/2006/relationships/notesSlide" Target="/ppt/notesSlides/notesSlide66.xml" Id="Re3b9eef21b0d450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ad4263be4489c" /><Relationship Type="http://schemas.openxmlformats.org/officeDocument/2006/relationships/notesSlide" Target="/ppt/notesSlides/notesSlide67.xml" Id="R1e9388f0ad064a9b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6fab8df734453" /><Relationship Type="http://schemas.openxmlformats.org/officeDocument/2006/relationships/notesSlide" Target="/ppt/notesSlides/notesSlide68.xml" Id="R4a76f01072b54cf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6c05352d344d2" /><Relationship Type="http://schemas.openxmlformats.org/officeDocument/2006/relationships/notesSlide" Target="/ppt/notesSlides/notesSlide69.xml" Id="R3814f1a8fb244f72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6f4ef5167420a" /><Relationship Type="http://schemas.openxmlformats.org/officeDocument/2006/relationships/notesSlide" Target="/ppt/notesSlides/notesSlide70.xml" Id="Ra82ce36a6ef24d36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9d21988df4e03" /><Relationship Type="http://schemas.openxmlformats.org/officeDocument/2006/relationships/notesSlide" Target="/ppt/notesSlides/notesSlide71.xml" Id="Rb3ea69fbf6bd407c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01cf4c28b4a15" /><Relationship Type="http://schemas.openxmlformats.org/officeDocument/2006/relationships/notesSlide" Target="/ppt/notesSlides/notesSlide72.xml" Id="R1dc0e3826082435f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0686d13bc4ce7" /><Relationship Type="http://schemas.openxmlformats.org/officeDocument/2006/relationships/notesSlide" Target="/ppt/notesSlides/notesSlide73.xml" Id="Rca71b2086e3a415b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7d0084b8428d" /><Relationship Type="http://schemas.openxmlformats.org/officeDocument/2006/relationships/notesSlide" Target="/ppt/notesSlides/notesSlide74.xml" Id="Rfce44a6b70a940e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08f825aa42c2" /><Relationship Type="http://schemas.openxmlformats.org/officeDocument/2006/relationships/notesSlide" Target="/ppt/notesSlides/notesSlide75.xml" Id="Rb7632fccb38a42f6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72d18da494b6f" /><Relationship Type="http://schemas.openxmlformats.org/officeDocument/2006/relationships/notesSlide" Target="/ppt/notesSlides/notesSlide76.xml" Id="Rde9d276997fb4f4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69a7ce383435b" /><Relationship Type="http://schemas.openxmlformats.org/officeDocument/2006/relationships/notesSlide" Target="/ppt/notesSlides/notesSlide77.xml" Id="R05d75127b67748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CA742-DAD3-4FED-88B6-5104A26F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öğrenme haritası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FC86F-CDB6-41AC-AB80-6448DB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üzerinden junior+ seviyeye giden yol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7CE3F-995B-42E9-8366-D211E71E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· Rol, yetkinlikler ve çalışma yöntemi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9BEA-82DC-4712-8A19-327BE0F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123950"/>
            <a:ext cx="114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  <a:p xmlns:a="http://schemas.openxmlformats.org/drawingml/2006/main">
            <a:pPr>
              <a:buNone/>
              <a:defRPr sz="21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21434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7EBDC-F1E1-4F71-AAD3-700A7B95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E375E-87EF-4900-87C8-AC7B637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 rolü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35EA5-E594-44D1-8C66-0836CB9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engineer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Modeli veya AI aracını ürüne bağlar, doğrular ve çalışır halde tutar.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8A3F5-5F53-4AC0-A012-2BAA9A9C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prompt yazmak değildir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Veri, API, test, maliyet, gecikme ve güvenilirlik de işin parçasıdır.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8A799-61A7-4598-A80F-A8605D74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ChessLens’te hedefimiz: Stockfish doğruluğunu, LLM açıklamasını ve sağlam bir backend’i tek üründe birleştirmek.</a:t>
            </a:r>
          </a:p>
        </p:txBody>
      </p:sp>
    </p:spTree>
    <p:extLst>
      <p:ext uri="{BB962C8B-B14F-4D97-AF65-F5344CB8AC3E}">
        <p14:creationId xmlns:p14="http://schemas.microsoft.com/office/powerpoint/2010/main" val="155594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B3D8-BC43-4898-A4B9-BA951A7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C420A-1644-48D0-A896-78CD8E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Junior+ beklentileri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480A-4EBF-4FC1-AA96-F96F9C7D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Temel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Python ve temiz kod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Git ve code review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ve debugging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REST API / FastAPI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SQL ve veri hazırlama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Docker ve CI temelleri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B6F8-D892-4814-8615-5470FA8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AI’ye özgü beklentiler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 çıktısını değerlendirme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Structured output doğrulama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ve maliyet kontrolü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Hallucination sınırlandırma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Latency ve reliability ölçümü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Teknik kararları anlatabilme</a:t>
            </a:r>
          </a:p>
        </p:txBody>
      </p:sp>
    </p:spTree>
    <p:extLst>
      <p:ext uri="{BB962C8B-B14F-4D97-AF65-F5344CB8AC3E}">
        <p14:creationId xmlns:p14="http://schemas.microsoft.com/office/powerpoint/2010/main" val="249073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C1D3C-4ADC-49CB-9CA2-2EDCF39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BCB83-8428-49CC-B591-42B44CE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Yetkinlik haritası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4A6A-AB49-4AB0-B989-386E00D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Yazılım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B4D6E-C8B4-4114-965E-37AE017C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· Git · test · debugging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A3A5F-9887-4C93-B223-1135C70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0EA63-20C9-4A9B-9B3A-B40940B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· HTTP · API contract · Docker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8DC9A-186A-498A-9270-3DBD89BF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06AA-FF4D-4F69-BEAF-1D39D168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Inference · prompt · structured output · evaluation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0FC42-6B23-47A8-9287-16D829AA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Ürün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6447A-B3F0-4D98-B5CC-9D90A185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problemi · açıklanabilirlik · ölçüm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4A9BB-4CF0-426A-89EA-4BF551EB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Junior+ = bu parçaları tek tek bilmekten çok, birlikte güvenilir bir akış kurabilmek.</a:t>
            </a:r>
          </a:p>
        </p:txBody>
      </p:sp>
    </p:spTree>
    <p:extLst>
      <p:ext uri="{BB962C8B-B14F-4D97-AF65-F5344CB8AC3E}">
        <p14:creationId xmlns:p14="http://schemas.microsoft.com/office/powerpoint/2010/main" val="12519602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636AA-7268-48BB-8A77-6EE3046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8056-3CB6-4624-AC21-B1E4D598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bir öğrenme laboratuvarı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D01F4-03FE-4CDF-96A1-C6716F7E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91E2-A7B3-42AA-A670-DFAB3C63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niyeti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3D89-F57E-43C1-A4E4-8DF44321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9B59-EFBF-440E-9091-01E577E9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47B3A-634F-4BC2-B9DE-790BAE44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API ve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1B99C-7AF9-4EFA-8F77-8C3E6F91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35FBF-9637-4104-BFE3-FB9FDC47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python-chess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BA3C9-32FA-4188-B6C5-D4489A7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kural doğruluğu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D9B30-C9C4-45DF-81E1-AD18D9D7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750DE-476D-44D9-8868-3582B799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A502-B1AB-490D-A501-E475F7A7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pozisyon analizi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A3223-C67D-4A83-8686-E41F6796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193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BE6EA-CAD1-407A-9D87-AEBAEC60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33625"/>
            <a:ext cx="180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30E13-15FF-49BC-BCF2-76C51B1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813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anlaşılır açıklama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28D6B-0252-4292-8FC6-3DA7C32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 bir iş becerisi öğretiyor: API tasarımı, domain logic, harici araç entegrasyonu, AI grounding ve evaluation.</a:t>
            </a:r>
          </a:p>
        </p:txBody>
      </p:sp>
    </p:spTree>
    <p:extLst>
      <p:ext uri="{BB962C8B-B14F-4D97-AF65-F5344CB8AC3E}">
        <p14:creationId xmlns:p14="http://schemas.microsoft.com/office/powerpoint/2010/main" val="2013225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7CB4A-FEA7-4AC9-9AD7-8C737B7E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271DB-EEAB-4FB4-929C-ED7501F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dersin çalışma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C8DA0-B827-4E77-8096-DDFC0C2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Kavramı gerçek problem üzerinden anla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B880A-CD71-429D-8CD4-EBFEB69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Koddaki veri akışını takip 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20DB-8AAA-4BCE-BD1E-643F44C1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 · Test yaz ve hata senaryosunu gör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64F6B-AA34-4E6D-B53B-20D90A0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Code review ve mülakat anlatımı yap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FC020-D4D3-4CB3-B11E-687B840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kodu ezberlemek değil, AI’nin ürettiği kodu kontrol edebilmek.</a:t>
            </a:r>
          </a:p>
        </p:txBody>
      </p:sp>
    </p:spTree>
    <p:extLst>
      <p:ext uri="{BB962C8B-B14F-4D97-AF65-F5344CB8AC3E}">
        <p14:creationId xmlns:p14="http://schemas.microsoft.com/office/powerpoint/2010/main" val="3991995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258CB-E6AD-4ED9-A61F-157D2A5A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AI ENGINEER EĞİTİMİ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23C81-5BEC-4B2D-8AB7-C5FCA95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sonunda gösterebileceğin şey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64C81-F918-4035-9528-DABEB56E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9906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“ChessLens’te server-authoritative oyun state’i kurdum. Stockfish’i analiz otoritesi, LLM’i açıklama katmanı olarak ayırdım. API sözleşmelerini, testleri ve failure fallback’lerini tasarladım.”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BE5C-A7FC-4F28-AA19-445991B1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90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Sıradaki bölüm: Python, FastAPI ve GameService’in kod akışı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527F8-FC87-4D0C-B232-92932E11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 tamamlandı</a:t>
            </a:r>
          </a:p>
        </p:txBody>
      </p:sp>
    </p:spTree>
    <p:extLst>
      <p:ext uri="{BB962C8B-B14F-4D97-AF65-F5344CB8AC3E}">
        <p14:creationId xmlns:p14="http://schemas.microsoft.com/office/powerpoint/2010/main" val="1755192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B83D-922E-497B-81EC-1911741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C1D13-A9B1-450C-88EB-B744ECD6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görevi: güvenilir bir AI akışını taşıyabilmek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EA8D6-E555-4E51-8A78-3866A0C1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2 · Dil, servis ve veri akışı</a:t>
            </a:r>
          </a:p>
        </p:txBody>
      </p:sp>
    </p:spTree>
    <p:extLst>
      <p:ext uri="{BB962C8B-B14F-4D97-AF65-F5344CB8AC3E}">
        <p14:creationId xmlns:p14="http://schemas.microsoft.com/office/powerpoint/2010/main" val="568097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64416-5C2F-456F-BE66-6046CEF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C1AE9-BEEF-4298-8FA4-CE2118F1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Python’da bilmen gereken seviye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51E18-6060-4EEC-8663-E21CEB5C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Ezberlemek gerekmeyenler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kütüphanenin tüm API’si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syntax ayrıntısı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Boilerplate kod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Her FastAPI seçeneği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91A2F-187F-410E-8B31-0492E350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Kontrol etmen gerekenler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Veri hangi tipte?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Fonksiyon ne üretiyor?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State nerede değişiyor?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Hata nasıl taşınıyor?</a:t>
            </a:r>
          </a:p>
          <a:p xmlns:a="http://schemas.openxmlformats.org/drawingml/2006/main">
            <a:pPr>
              <a:buNone/>
              <a:defRPr sz="17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nerede yazılır?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2C81B-11D3-4A50-AB82-820AD49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kod üretebilir; mühendis kodun davranışını açıklayabilmelidir.</a:t>
            </a:r>
          </a:p>
        </p:txBody>
      </p:sp>
    </p:spTree>
    <p:extLst>
      <p:ext uri="{BB962C8B-B14F-4D97-AF65-F5344CB8AC3E}">
        <p14:creationId xmlns:p14="http://schemas.microsoft.com/office/powerpoint/2010/main" val="2000810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9CD0F-4641-41CF-9279-F75A106C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122B-3CB9-4FF7-A2BD-8DD45EA9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hamle isteğinin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6B937-6AA0-4935-923B-FC5D213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F156A-8CA3-4D52-AAC0-BC549DE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66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POST /api/games/{id}/moves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6BAC0-8FBA-4482-95DB-5D362D22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BC509-3896-4DAC-9E07-E9C74311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alanlarını ve tiplerini doğrular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2893-0C7C-43BF-BE3A-8AFCC6E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C1B28-7123-413D-A5E7-88263BE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003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 bulur, sıralamayı kontrol eder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A6571-549E-4D65-8AD0-E1E2A9E7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671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E0BD-5222-4E48-8191-BF35749E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satranç kurallarına göre uygular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BE222-45D6-456A-8BA8-7D12C20C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6AAAA-88F8-427F-9E40-1A18F93E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değerlendirir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5CAED-F194-4AE4-8B75-B9027DE7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00625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99194-4123-4D1A-AB15-7F57247E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00625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State, analysis ve coach sonucunu döner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2FE48-10E9-4503-AAAC-2AF93FB8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katmanın tek bir anlaşılır görevi var.</a:t>
            </a:r>
          </a:p>
        </p:txBody>
      </p:sp>
    </p:spTree>
    <p:extLst>
      <p:ext uri="{BB962C8B-B14F-4D97-AF65-F5344CB8AC3E}">
        <p14:creationId xmlns:p14="http://schemas.microsoft.com/office/powerpoint/2010/main" val="1411687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41A44C-253B-43F2-8532-DE41E55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86EFF-C76F-40BD-BA30-D450CF8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 ve GameService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FBD6-FA5D-4979-835A-0941E8A7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HTTP ve JSON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Route ve status code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Request validation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Oyun kaydını bulma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Harici servisi çağırma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98378-3682-426B-BCAD-D32090E7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667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Tahtayı tutma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Legal move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FEN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SAN üretme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Mat, pat, draw durumu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BF5FC-F943-4390-A73C-968E83A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Ayrımın sonucu: satranç kurallarını HTTP sunucusu olmadan test edebiliriz.</a:t>
            </a:r>
          </a:p>
        </p:txBody>
      </p:sp>
    </p:spTree>
    <p:extLst>
      <p:ext uri="{BB962C8B-B14F-4D97-AF65-F5344CB8AC3E}">
        <p14:creationId xmlns:p14="http://schemas.microsoft.com/office/powerpoint/2010/main" val="91473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E55F6-13FF-4F35-9CB7-2575FB5F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3D6FE-4C49-4E05-8967-95BCB65C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Kod akışını okumak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4057A-091B-45BB-B935-DC09FFFD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state_before = record.game.state()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gerçeğini backend’den 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E2D76-9E9C-4206-961E-90642B73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 = record.game.play_move(body.from_, body.to, body.promotion)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Hamleyi doğrula ve uygula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BE0E3-3108-424C-AC25-8D6025BC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after_analysis = await engine.analyze(record.game.board.copy(...))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Yeni pozisyonu analiz 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4B309-D3CB-4718-AC25-EA11B88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 okurken her satırı değil, state’in nerede değiştiğini ve verinin hangi katmana gittiğini takip et.</a:t>
            </a:r>
          </a:p>
        </p:txBody>
      </p:sp>
    </p:spTree>
    <p:extLst>
      <p:ext uri="{BB962C8B-B14F-4D97-AF65-F5344CB8AC3E}">
        <p14:creationId xmlns:p14="http://schemas.microsoft.com/office/powerpoint/2010/main" val="9273300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104C-59FD-4987-A5B0-BC4383FE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CD789-9C58-4323-899E-4263AE4D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EB0CB-EB4B-4E38-AE85-A90EE757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İstemci gönderir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"from": "e2",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"to": "e4",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"promotion": null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29CC6-9693-4830-9749-A789311B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667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Backend döner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"fen": "...",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"playedMove":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"analysis": {...},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 "coach": {...}</a:t>
            </a:r>
          </a:p>
          <a:p xmlns:a="http://schemas.openxmlformats.org/drawingml/2006/main">
            <a:pPr>
              <a:buNone/>
              <a:defRPr sz="165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5A997-2248-4786-9CBE-48F62277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İstemci niyet gönderir; backend FEN, legality, score ve classification üretir.</a:t>
            </a:r>
          </a:p>
        </p:txBody>
      </p:sp>
    </p:spTree>
    <p:extLst>
      <p:ext uri="{BB962C8B-B14F-4D97-AF65-F5344CB8AC3E}">
        <p14:creationId xmlns:p14="http://schemas.microsoft.com/office/powerpoint/2010/main" val="5726272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AE239-62BE-4F31-965A-9ABEDF1A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2 · PYTHON VE FASTAPI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CF905-5B40-4499-AB40-261B92CE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2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A3-0EB3-40F8-B906-7C71EEA0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endpoint’i yalnızca çalıştırmayı değil, request’ten response’a veri akışını açıklamayı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EABD-CF48-4814-939C-E21FB118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“Transport katmanını domain mantığından ayırdım; GameService’i dış bağımlılıklar olmadan unit test edebiliyorum.”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6C9CE-76FE-4048-B2FB-02F9327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FEN, SAN, UCI ve PGN veri sözleşmeleri</a:t>
            </a:r>
          </a:p>
        </p:txBody>
      </p:sp>
    </p:spTree>
    <p:extLst>
      <p:ext uri="{BB962C8B-B14F-4D97-AF65-F5344CB8AC3E}">
        <p14:creationId xmlns:p14="http://schemas.microsoft.com/office/powerpoint/2010/main" val="20187880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D49D-619E-4A7C-9602-8CBFE19B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FEN, SAN, UCI ve PGN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0EEE7-8373-49A6-B146-DB8C1C5E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oyunun dört farklı veri dili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0401-7732-4486-ABB2-DDBC9A6B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3 · Pozisyon, hamle, motor ve geçmiş</a:t>
            </a:r>
          </a:p>
        </p:txBody>
      </p:sp>
    </p:spTree>
    <p:extLst>
      <p:ext uri="{BB962C8B-B14F-4D97-AF65-F5344CB8AC3E}">
        <p14:creationId xmlns:p14="http://schemas.microsoft.com/office/powerpoint/2010/main" val="10920952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1023-B25F-44BC-9E8E-0ABE181E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1A0ED-B3D5-47E0-A2A1-122737CA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Dört formatın dört görevi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6C99-65C1-499F-90A4-FF06E5F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D3C37-6C90-4AF8-8DFC-EC283FE8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Tahtanın anlık fotoğrafı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1B603-55E6-4FC1-BEE6-0A4FDA9E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Stockfish’e pozisyon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64F93-1B3E-44DA-B4D5-D6BEFC30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41F7B-ADE8-4B1B-BC9D-5B809D10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1462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İnsanın okuduğu hamle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2E9A0-7B2D-426C-BA02-07A68FD4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1462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UI ve coach açıklaması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2427-98E3-4E05-B7E5-CB8EB17E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92CCD-C199-4E40-BBBF-9C09CDE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Motorların hamle dili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9FFEB-BF3A-462C-B39B-B4924F79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Stockfish ↔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F91B1-7E93-4CC9-B445-F1F05A5D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A08C0D-8E5F-4BDC-9A4F-F70B8B7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14875"/>
            <a:ext cx="3714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Oyunun geçmiş kaydı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6148D-3373-4E16-A3A7-E6C459B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Review ve dışa aktarma</a:t>
            </a:r>
          </a:p>
        </p:txBody>
      </p:sp>
    </p:spTree>
    <p:extLst>
      <p:ext uri="{BB962C8B-B14F-4D97-AF65-F5344CB8AC3E}">
        <p14:creationId xmlns:p14="http://schemas.microsoft.com/office/powerpoint/2010/main" val="10862688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4EB716-4275-4ACC-AFB2-098AE99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186F9-337F-4337-B04E-2C854B4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FEN: pozisyonun fotoğrafı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FD8DA-462A-4223-91C4-2A0B3052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rnbqkbnr/pppppppp/8/8/PPPPPPPP/RNBQKBNR w KQkq - 0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544E-4B3B-4D2A-8977-FE112BE9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EB510-4BBB-495D-B8B5-B6815BF1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tahta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8. sıradan 1. sıraya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F6C45-26FF-407D-B5FB-A5D7E8E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C330F-1FB9-41C3-A372-0E54E1CD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sıra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 veya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2017D-0FA3-4DC1-B43D-242BCC12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0037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675DA-A4EB-4D7F-9301-FDF1E362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03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rok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KQkq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91D6E-AF03-4817-A732-BB9FD6A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B137D-34FD-4F48-B268-6A4EE6A1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 passant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hedef kare veya 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55A32-CD30-418E-8DFD-14E099A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A99C3E-6B24-4B3F-9BF3-ACC4914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yarım hamle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draw kuralı için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24D1D-1A3A-4CFC-84C0-515CC97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48125"/>
            <a:ext cx="523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77D85-627C-4385-8F81-44AF98F3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481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no</a:t>
            </a:r>
          </a:p>
          <a:p xmlns:a="http://schemas.openxmlformats.org/drawingml/2006/main">
            <a:pPr>
              <a:buNone/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tam hamle sayısı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D9E4D-AF14-4FF5-8707-AB14BCC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FEN mevcut konumu söyler; hamle geçmişini söylemez.</a:t>
            </a:r>
          </a:p>
        </p:txBody>
      </p:sp>
    </p:spTree>
    <p:extLst>
      <p:ext uri="{BB962C8B-B14F-4D97-AF65-F5344CB8AC3E}">
        <p14:creationId xmlns:p14="http://schemas.microsoft.com/office/powerpoint/2010/main" val="9712467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22151-9C86-41C9-88C3-BEDBBD6E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DD994-8B99-49D4-99F6-104A4438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SAN ve UCI: Nf3 ile g1f3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526C8-865D-4738-B9C5-BCBA947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İnsan odaklıdır. Tahtayı ve bağlamı kullanır. Şah, mat, taş alma ve rok sembolleri taşıyabilir.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4C33-1604-47F3-9479-109DFC11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g1f3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Makine odaklıdır. Başlangıç karesi, hedef karesi ve terfi harfi kullanır.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8B64B-23D3-484F-B7E5-33CA3648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hamle: SAN = Nf3 · UCI = g1f3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UCI üretir; UI genellikle SAN gösterir.</a:t>
            </a:r>
          </a:p>
        </p:txBody>
      </p:sp>
    </p:spTree>
    <p:extLst>
      <p:ext uri="{BB962C8B-B14F-4D97-AF65-F5344CB8AC3E}">
        <p14:creationId xmlns:p14="http://schemas.microsoft.com/office/powerpoint/2010/main" val="1342330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CF340-AD7D-481F-9929-3F2C760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654E-19CF-4DB5-A8E3-6228AC1B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PGN: oyunun geçmişi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53481-FCB6-430B-98A4-A8A0122B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Şu an tahta nasıl?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bir snapshot.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Geçmişi tam olarak taşımaz.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B4022-85CB-4CAF-B218-779177AB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PGN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buraya nasıl geldi?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SAN hamleleri, oyuncular, sonuç ve yorumlar.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0A91B-7287-4D49-AC90-0B84A38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Review özelliği için FEN’in yanında hamle geçmişini de saklamalıyız.</a:t>
            </a:r>
          </a:p>
        </p:txBody>
      </p:sp>
    </p:spTree>
    <p:extLst>
      <p:ext uri="{BB962C8B-B14F-4D97-AF65-F5344CB8AC3E}">
        <p14:creationId xmlns:p14="http://schemas.microsoft.com/office/powerpoint/2010/main" val="17117230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315AA-0A52-4447-81C1-457C2B91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4E22-F87B-41F5-A4D2-1316EA75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veri sözleşmesi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E3113-ECB9-46A6-BED3-94C49F4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474E-DFB0-4CD3-BC74-F5068C08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from/to/promotion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494E0-A3C3-4880-B04F-57BA9A3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F536F-4C79-4476-98A8-55B58849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FF580-CA90-482C-A9C5-26083C55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legal + FEN + SAN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BC924-949E-4A45-B8F4-C43BFA0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CC82E-1A0F-47E3-A8BC-E56CC14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6A5D6-67AE-47F3-BFED-60DD2F1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UCI +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8D9F9-552A-4C26-92F9-34006FD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241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32BD-4EF6-4B5F-A162-F3B3ED13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1C7CD-6E0A-4011-8D73-EB3984C5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8137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insan dili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A552A-2F0E-4A44-B48E-078FF441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format doğru katmanda kullanılır; LLM hiçbir formatın doğruluk otoritesi değildir.</a:t>
            </a:r>
          </a:p>
        </p:txBody>
      </p:sp>
    </p:spTree>
    <p:extLst>
      <p:ext uri="{BB962C8B-B14F-4D97-AF65-F5344CB8AC3E}">
        <p14:creationId xmlns:p14="http://schemas.microsoft.com/office/powerpoint/2010/main" val="3354332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5493F-58BE-4865-8959-5FF87EA1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3 · SATRANÇ VERİ SÖZLEŞMELERİ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71092-751E-4256-84DD-C208CEE3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3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D4F9-7A2B-480D-80D1-CCCA7095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mevcut pozisyonu, PGN geçmişi, SAN insan dilini, UCI ise motor dilini temsil eder.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58C3F-EF37-4506-B7D2-1582DCF8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“Motor ile UI arasında UCI/SAN dönüşümü yapıyor, oyun snapshot’ı ile hamle geçmişini ayrı veri ihtiyaçları olarak ele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B30B-6852-4A6E-8ABD-728E4158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Hamle doğrulama, test ve hata senaryoları</a:t>
            </a:r>
          </a:p>
        </p:txBody>
      </p:sp>
    </p:spTree>
    <p:extLst>
      <p:ext uri="{BB962C8B-B14F-4D97-AF65-F5344CB8AC3E}">
        <p14:creationId xmlns:p14="http://schemas.microsoft.com/office/powerpoint/2010/main" val="9361923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13316-4163-4871-931D-31D2593F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CD4C7-23BC-4297-994D-62173FF0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Çalışan endpoint ile güvenilir servis arasındaki fark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4DD6E-CBED-4CFF-851E-7041A458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4 · Validation, state ve hata yönetimi</a:t>
            </a:r>
          </a:p>
        </p:txBody>
      </p:sp>
    </p:spTree>
    <p:extLst>
      <p:ext uri="{BB962C8B-B14F-4D97-AF65-F5344CB8AC3E}">
        <p14:creationId xmlns:p14="http://schemas.microsoft.com/office/powerpoint/2010/main" val="3369005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03A6-6CF9-4DB9-9BA4-833E8D11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9C12B-0B95-4E85-B11E-FD6308B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İki farklı doğrulama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73AA0-5494-488E-9BFB-E071AAA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alanları var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from/to doğru tipte mi?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playerColor geçerli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Pydantic → HTTP 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D999B-54FB-4B94-803D-070D48B6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Domain doğrulama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bu pozisyonda yasal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şahını açıkta bırakıyor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 bitmiş mi?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GameService → 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CD544-7C96-4F05-919A-DB29A88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Format doğru olabilir; hamle yine de satranç açısından yasadışı olabilir.</a:t>
            </a:r>
          </a:p>
        </p:txBody>
      </p:sp>
    </p:spTree>
    <p:extLst>
      <p:ext uri="{BB962C8B-B14F-4D97-AF65-F5344CB8AC3E}">
        <p14:creationId xmlns:p14="http://schemas.microsoft.com/office/powerpoint/2010/main" val="14881377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04AD1-CA1A-404C-A97D-3BE3A17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EDA15-6916-4528-92F6-918BD28F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State değişikliğinde güvenli sıra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986DB-277E-4AF7-9CC2-0F9C55F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 · Hamle nesnesini oluştur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BD197-A500-452A-A989-5718C7F0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 · Legal moves içinde doğrula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843D5C-31DA-434A-90D5-6B0D1FD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 · SAN’ı eski tahtada hesapla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FAF32-B635-402D-8EFF-EC453D59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 · Hamleyi uygula ve yeni state üret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D9125-82DA-486F-A948-6DA5E77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Doğrulama bitmeden mutation yapılmaz.</a:t>
            </a:r>
          </a:p>
        </p:txBody>
      </p:sp>
    </p:spTree>
    <p:extLst>
      <p:ext uri="{BB962C8B-B14F-4D97-AF65-F5344CB8AC3E}">
        <p14:creationId xmlns:p14="http://schemas.microsoft.com/office/powerpoint/2010/main" val="1015195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10954-7079-4AB1-AD37-1E6455AA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C96C5-DA6D-45A5-866F-0785386A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kodları rastgele seçilmez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22296-244D-4ECB-982F-5E3E85CA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3D9DA-840E-434F-ADBD-E133BC68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şekli yanlış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D13E-8D6D-46AE-9F59-ABAC6D22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Pydantic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1ED7-E94F-43C1-A695-70739B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9EF8-8C95-406F-BD41-D696530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yasadışı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8F29F-49AC-484F-AB11-21968DA8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907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019FE-9666-4A36-8831-4F1B3637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AB312-5FBB-4BF3-85F5-84DF647C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 bulunamadı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54934-FF19-46DA-AF68-13078258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146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FastAPI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833D4-3772-4401-BB4E-90146727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3277C-E39C-4926-8DCE-96DCBC72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385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Oyuncunun sırası değil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86089-19FD-49D0-9155-0FD4003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38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GameRecord/API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2E0F6-B4C2-41B8-9FC1-FAFA3C8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1DA91-49CC-4537-8933-7A7AA546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62475"/>
            <a:ext cx="485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yok veya erişilemiyor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86D27-FBFC-4C76-9239-8C249915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624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adapter</a:t>
            </a:r>
          </a:p>
        </p:txBody>
      </p:sp>
    </p:spTree>
    <p:extLst>
      <p:ext uri="{BB962C8B-B14F-4D97-AF65-F5344CB8AC3E}">
        <p14:creationId xmlns:p14="http://schemas.microsoft.com/office/powerpoint/2010/main" val="7419332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59741-3FAF-42E1-B282-57516462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A35A-A30C-400D-8D48-C2BE3504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Test piramidi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598F6-3CEC-4A83-A3BA-9E0FF9F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Unit test · GameService ve move analyzer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14673-42C6-43ED-9792-888D4F96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Integration test · FastAPI + fake engine + fake coach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B4A98-AB18-4CE4-9F47-CA1184D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628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Smoke test · gerçek server ve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CB308-8C8D-464B-B23F-60FD68A6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Her testi gerçek Stockfish ile çalıştırmak testleri yavaş ve kırılgan yapar.</a:t>
            </a:r>
          </a:p>
        </p:txBody>
      </p:sp>
    </p:spTree>
    <p:extLst>
      <p:ext uri="{BB962C8B-B14F-4D97-AF65-F5344CB8AC3E}">
        <p14:creationId xmlns:p14="http://schemas.microsoft.com/office/powerpoint/2010/main" val="52113546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83071-D724-4639-8D63-1FC965EF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EBE50-101A-418F-93E1-D74B87E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İyi bir test neyi kanıtlar?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3B433-3B1B-4724-B9C9-E7C1AB9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 test_illegal_move_does_not_change_board():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game = GameService.new()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before = game.board.fen()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with pytest.raises(IllegalMoveError):</a:t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    game.play_move("e2", "e5")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  assert game.board.fen() == before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14B63-307F-4FC5-B1EB-9D5C4A4D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test yalnızca hatayı değil, hata sonrası state bütünlüğünü de kanıtlar.</a:t>
            </a:r>
          </a:p>
        </p:txBody>
      </p:sp>
    </p:spTree>
    <p:extLst>
      <p:ext uri="{BB962C8B-B14F-4D97-AF65-F5344CB8AC3E}">
        <p14:creationId xmlns:p14="http://schemas.microsoft.com/office/powerpoint/2010/main" val="417191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AE10-D595-40F2-82ED-1D6F3B96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4 · DOĞRULAMA VE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A26EB-BF2D-45A3-AD25-9FE5BF1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4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00926-4049-4675-BD71-85725AD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hamleyi reddedip oyunun state’ini bozmayan bir servis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E141DA-4E9C-4AF8-8A11-8EE1A608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“Validation, domain error ve external dependency failure durumlarını ayrı ele alıp uygun HTTP kodlarına çeviriyorum.”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4133-F50E-4F61-8E23-0BECCAEC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Stockfish adapter ve UCI motor entegrasyonu</a:t>
            </a:r>
          </a:p>
        </p:txBody>
      </p:sp>
    </p:spTree>
    <p:extLst>
      <p:ext uri="{BB962C8B-B14F-4D97-AF65-F5344CB8AC3E}">
        <p14:creationId xmlns:p14="http://schemas.microsoft.com/office/powerpoint/2010/main" val="13012880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4F7C4-6553-4CF8-B86B-E32EADB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adapter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9B1B3-9EF3-483C-8C53-0DB3F2DE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Motoru ürüne bağlamak: süreç, protokol ve güvenilirlik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E63C6-8F77-4447-A321-2FBB918D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5 · UCI, evaluation ve failure handling</a:t>
            </a:r>
          </a:p>
        </p:txBody>
      </p:sp>
    </p:spTree>
    <p:extLst>
      <p:ext uri="{BB962C8B-B14F-4D97-AF65-F5344CB8AC3E}">
        <p14:creationId xmlns:p14="http://schemas.microsoft.com/office/powerpoint/2010/main" val="14028760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0CC89-5722-417A-B8AF-3330FD0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A7F76-236E-423F-904C-690F05B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ve LLM’in farklı görevleri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CEB1-5195-4A2B-8255-3B4A8E4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Pozisyonu hesaplar.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 iyi hamleyi önerir.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Skor ve principal variation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Doğruluk otoritesi.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7DD95-92DC-4EBF-8D2E-8EAB17D3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Motor sonucunu açıklar.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seviyesine uyarlar.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Pedagojik dil üretir.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Açıklama katmanı.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F9DD6-9F42-4328-88F9-CC7AF559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motor skorunu değiştiremez; Stockfish de pedagojik açıklama üretmek zorunda değildir.</a:t>
            </a:r>
          </a:p>
        </p:txBody>
      </p:sp>
    </p:spTree>
    <p:extLst>
      <p:ext uri="{BB962C8B-B14F-4D97-AF65-F5344CB8AC3E}">
        <p14:creationId xmlns:p14="http://schemas.microsoft.com/office/powerpoint/2010/main" val="74627046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5BB38-B978-4037-BB22-385ABD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568D-B61C-49AA-8850-D3306BD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sürecinin yaşam döngüsü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D2E80-8DC8-4F03-B8BE-697DE6AB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Başlat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0727-82AC-4DE3-AED4-38214C89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SimpleEngine.popen_uci(path)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944-8CBE-479C-AC09-655188A2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Konum 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78271-1B90-4457-BD79-F6C09C66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 / FEN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03C0B-1F6C-4FF1-81B3-BA1CCB9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Limit koy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6B45-6560-4033-8744-060817C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 veya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21C2E-6214-44CE-ACD8-EAA10553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Analiz 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2E0E52-84BC-4784-9DB9-2B6DCB17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66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engine.analyse(...)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55B44-FD57-474D-A900-7B789BD1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Normalize 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38CD43-B852-4FB6-8451-955AC0D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score + bestMove + pv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A37DA-163E-4EF1-82E6-8B252211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09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AA7DC-5034-4498-B8CA-3787D43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482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engine.quit()</a:t>
            </a:r>
          </a:p>
        </p:txBody>
      </p:sp>
    </p:spTree>
    <p:extLst>
      <p:ext uri="{BB962C8B-B14F-4D97-AF65-F5344CB8AC3E}">
        <p14:creationId xmlns:p14="http://schemas.microsoft.com/office/powerpoint/2010/main" val="319208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9E369-4314-47F8-B444-0E0D308B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2BA4D-5BE6-4DFD-A48F-E4E072D7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Adapter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26E15-5B0E-4E78-82A6-605AA2D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ne gönderir?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board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Stockfish’in stdout’unu veya UCI satırlarını bilmez.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6781-58C6-4C50-A57B-12652BB7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Adapter ne döner?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evaluation: {kind, value},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bestMove: "g1f3",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pv: [...]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Stabil uygulama DTO’su.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7F810-E181-4DCF-A90E-B2D6F1C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Harici aracın değişken ayrıntılarını tek bir sınırın arkasında tutuyoruz.</a:t>
            </a:r>
          </a:p>
        </p:txBody>
      </p:sp>
    </p:spTree>
    <p:extLst>
      <p:ext uri="{BB962C8B-B14F-4D97-AF65-F5344CB8AC3E}">
        <p14:creationId xmlns:p14="http://schemas.microsoft.com/office/powerpoint/2010/main" val="180499191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65BAAB-4D45-4097-B825-B53AFD94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54DFD-BE14-4D8E-B397-5A9F5880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Evaluation: centipawn ve 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106C8-C5FF-46E3-A322-4D519A16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 kind: "centipawn", value: 35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+0.35 piyon = küçük beyaz avantajı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Skor beyaz perspektifinden normalize edilir.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4A10B-B2A1-430F-A0FD-18597D5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 kind: "mate", value: 3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 3 hamlede mat eder.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Negatif değer siyah lehine matı gösterir.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Mate’i cp gibi hesaplamayız.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859C5-16D7-4F38-82BF-8CCBF065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türü bilinmeden centipawn loss hesaplamak yanlış sınıflandırma üretir.</a:t>
            </a:r>
          </a:p>
        </p:txBody>
      </p:sp>
    </p:spTree>
    <p:extLst>
      <p:ext uri="{BB962C8B-B14F-4D97-AF65-F5344CB8AC3E}">
        <p14:creationId xmlns:p14="http://schemas.microsoft.com/office/powerpoint/2010/main" val="17468296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A0ED-BE8E-427A-8154-18EF9D75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421F9-6B89-42E7-A6CC-987561AB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Harici süreç güvenilirliği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A2F0A-4446-4F40-99FB-FE654EFD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Dosya yok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8159-A78E-46DC-B850-5FD5B364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STOCKFISH_PATH yanlışsa 503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41392-B5BE-45C1-B9AD-B89481CE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E8A1-F236-49D0-97E5-61FD9F99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030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İsteği sonsuza kadar bekletme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E9612-8765-4ABF-9469-F1864A8E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Concurrency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77B63-5022-4F69-85C1-AA8E7BA2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3372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engine üzerinde lock/queue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D7FAE-3796-4FDB-9753-284022E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Kapanış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4220B-4B20-48B9-9F36-7E61EBF0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Uygulama kapanırken engine.quit()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5D261-6B93-4F9F-914F-D17CEC25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Yanlış çıktı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11DA0-7245-456E-B6D7-3EDD905F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00575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UCI best move tekrar legal kontrol</a:t>
            </a:r>
          </a:p>
        </p:txBody>
      </p:sp>
    </p:spTree>
    <p:extLst>
      <p:ext uri="{BB962C8B-B14F-4D97-AF65-F5344CB8AC3E}">
        <p14:creationId xmlns:p14="http://schemas.microsoft.com/office/powerpoint/2010/main" val="8098010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7A7A7-80B6-4268-B21F-5FE11868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5 · STOCKFISH VE UCI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481F-F5F4-4C30-ADE6-B11EB06D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5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A2142-DD88-4FFE-BFD4-9453E1B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Stockfish’i sadece çağırmayı değil, çıktısını normalize edip güvenilir bir uygulama sözleşmesine dönüştürmeyi öğrendin.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88A4E-B90A-43C4-BFEC-5FB01C1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“Stockfish’i UCI adapter arkasına aldım; mate ve centipawn skorlarını beyaz perspektifine normalize edip timeout ve legal-move kontrolleri ekledim.”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E127E-9121-4C47-B560-9ABA199A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Move analysis,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14363855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1E8B9-D460-4DCB-AEEA-47B1E67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6B172-05D6-4654-9C70-C767C1A3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skorunu insan için anlamlı bir geri bildirime çevirmek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3B3F-A12E-437B-B962-762DE1B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6 · Loss, classification ve evaluation</a:t>
            </a:r>
          </a:p>
        </p:txBody>
      </p:sp>
    </p:spTree>
    <p:extLst>
      <p:ext uri="{BB962C8B-B14F-4D97-AF65-F5344CB8AC3E}">
        <p14:creationId xmlns:p14="http://schemas.microsoft.com/office/powerpoint/2010/main" val="21071503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9ADBC-6EAE-46DF-8ADA-F4F0B33E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BB9D1-292A-489D-813F-6F1FB8CE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analizi iki pozisyonu karşılaştırır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A9681-A59E-4E1B-8B33-72B4EB68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FEN before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Hamle oynanmadan önce</a:t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+0.40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57176-E881-472C-BE12-4ECC83F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oyuncu</a:t>
            </a:r>
          </a:p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hamlesi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FD316-903D-4991-A39B-4C00EA0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after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 oynandıktan sonra</a:t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Stockfish skoru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-0.80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600D-CD17-4345-99CB-923E9BB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Analiz, tek başına “motor ne dedi?” değil, hamlenin konumu nasıl değiştirdiğidir.</a:t>
            </a:r>
          </a:p>
        </p:txBody>
      </p:sp>
    </p:spTree>
    <p:extLst>
      <p:ext uri="{BB962C8B-B14F-4D97-AF65-F5344CB8AC3E}">
        <p14:creationId xmlns:p14="http://schemas.microsoft.com/office/powerpoint/2010/main" val="118037391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7820-9142-4189-BEEF-C43E10CA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B9F82-107F-46D7-B52E-40C6712F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oyuncu perspektifinden hesaplanır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698D3-A638-4426-B94C-D2C7C11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= before − after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+0.80’den +0.30’a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Beyaz: 50 cp kayıp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Siyah: 50 cp kazanç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C5C54-B63C-474A-B83D-D965B15F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 oynadıysa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 = after − before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+0.30’den +0.80’e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Beyaz: 50 cp kazanç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Siyah: 50 cp kayıp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A8A-A6D0-4554-8916-D740337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Skor beyaz perspektifinde tutulur; loss hesabı hamleyi yapan oyuncuya göre yön değiştirir.</a:t>
            </a:r>
          </a:p>
        </p:txBody>
      </p:sp>
    </p:spTree>
    <p:extLst>
      <p:ext uri="{BB962C8B-B14F-4D97-AF65-F5344CB8AC3E}">
        <p14:creationId xmlns:p14="http://schemas.microsoft.com/office/powerpoint/2010/main" val="108399259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EC59A-C36D-4DCA-812E-10EE2189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4C2EC-BFF0-4C59-911E-56A35CAE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loss’tan hamle sınıfına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536CB-A449-4D96-90B6-578D3520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0–10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A0F1C-DC26-4958-95F3-9000F2CC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56144-3D84-4536-8155-C3282AB8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66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çok güçlü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10A3-74D6-420C-909A-23A26E13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11–50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BB2D9-690A-4A23-8FBC-39FEB75B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67035-4663-4866-BC1C-F8CF0A5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907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4A901-BA79-496C-9695-9CC16B90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51–100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3E678-5043-4945-A06B-6EFBC63C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146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6006F-C3A0-4C75-B4B0-22B27B0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4EE7D-B821-4B46-9E45-7D2FFB7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101–200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B7699-7169-472E-8054-2E2B5926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mistake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CD564-6DC3-4678-8529-061804D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385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ara seviye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50FF-E10E-41BF-BAA4-AE332343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201+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8869-5318-4DA9-B681-BF99CA0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390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80626-0E35-44F9-A08C-DE902AB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62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ciddi kayıp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58BCB-9405-45EE-A86E-922A562A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Eşikler ürün kararlarıdır; motorun doğal gerçeği değildir.</a:t>
            </a:r>
          </a:p>
        </p:txBody>
      </p:sp>
    </p:spTree>
    <p:extLst>
      <p:ext uri="{BB962C8B-B14F-4D97-AF65-F5344CB8AC3E}">
        <p14:creationId xmlns:p14="http://schemas.microsoft.com/office/powerpoint/2010/main" val="11346758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A4B19B-5535-4015-B788-7A642C2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C8719-EE0A-45EC-A4B2-F8CE6EC8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 skorları ayrı sınıflandırılır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82B-4A6C-42AB-80BB-A9366C8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Normal skor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cp → 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centipawn loss hesabı yapılır.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C9E97-7141-457A-8595-8D55625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geçişi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mate → cp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cp → 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blunder veya forced mate sonucu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olarak sınıflandırılır.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4D9F4-2EF1-4BE3-ADDA-91512AFE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Mate’i 100000 centipawn gibi sahte bir sayıya çevirip normal loss hesabına sokmuyoruz.</a:t>
            </a:r>
          </a:p>
        </p:txBody>
      </p:sp>
    </p:spTree>
    <p:extLst>
      <p:ext uri="{BB962C8B-B14F-4D97-AF65-F5344CB8AC3E}">
        <p14:creationId xmlns:p14="http://schemas.microsoft.com/office/powerpoint/2010/main" val="18975418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D3133-D415-46D8-BA15-B30433D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29DF3-CEFB-4145-806A-1640EDAC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573F7-E4A4-4A7B-ADDC-0043127F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8AE9A-B808-4944-9AE0-0AC98C65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A931-A4B9-4FF5-BF6B-1D265210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kind + value + pv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E1734-8C2F-4975-80C2-095F45FA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28F3A-6E74-4D37-8185-D5145D8F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Perspective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9E90-ADF4-4006-8540-A06B770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03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white / black mover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F6C14-0F32-4387-BF35-A19F01F6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BCDD0-AA88-4E6D-A524-ACE6C16A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0F8A-609F-4607-B3BA-311C062F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3372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 veya mate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06BB87-DB83-4018-ACD7-25F631A8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0C768-390A-4ECD-8AAA-9F46D0D9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67114-6D97-462A-9284-8D1F091F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best → blunder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70EC1-5142-4A7C-B243-9392A1F1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C84BF-F049-4BD3-8E58-A26334E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C4CD4F-37D6-434E-BCB7-777E1791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validated 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1024012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0CA3A-A881-4C4D-B5F0-896A70AD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6 · MOVE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8A9EF-590F-4039-8C90-F647C614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6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82DD-DD2F-4BD4-AB9C-D9F6277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Ham motor skorunu, oyuncu perspektifine göre anlamlandırılmış ve test edilebilir bir move analysis’e çevirebilirsin.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8899A-5DF1-4699-A596-2D4285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“Centipawn loss’u hamleyi yapan oyuncunun perspektifinde hesaplıyor, mate geçişlerini ayrı sınıflandırıyor ve LLM’e yalnızca doğrulanmış analysis DTO’su gönderiyorum.”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0601B-12F5-4A67-8C31-D3435554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Coach prompt, structured output ve LLM validation</a:t>
            </a:r>
          </a:p>
        </p:txBody>
      </p:sp>
    </p:spTree>
    <p:extLst>
      <p:ext uri="{BB962C8B-B14F-4D97-AF65-F5344CB8AC3E}">
        <p14:creationId xmlns:p14="http://schemas.microsoft.com/office/powerpoint/2010/main" val="163519084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DEEBD-8097-4459-B4F8-7046BB27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coach katmanı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855B6-2DA4-4B3D-A7AD-390E1399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Motor sonucunu değiştirmeden, insana anlaşılır hale getirmek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DC9E6-5BEF-4748-A483-B9B945A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7 · Prompt, JSON output ve validation</a:t>
            </a:r>
          </a:p>
        </p:txBody>
      </p:sp>
    </p:spTree>
    <p:extLst>
      <p:ext uri="{BB962C8B-B14F-4D97-AF65-F5344CB8AC3E}">
        <p14:creationId xmlns:p14="http://schemas.microsoft.com/office/powerpoint/2010/main" val="52750068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E289E-42B3-4EA0-B537-1EF4C9B4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7E669-9570-4D6D-8A91-BB3BC14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katmanının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3E285-32B1-4348-B63E-188F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LLM’e verilen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güvenilir veriler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76068-0CAD-45C5-BC4A-119E02BD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LLM’in görevi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Bu veriyi değiştirmeden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Türkçe açıklamak.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Kendi skorunu üretmemek.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Hamleyi yeniden değerlendirmemek.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4C90-29FD-473A-AB18-9FE3DAB9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Stockfish hesaplar; LLM açıklamayı üretir.</a:t>
            </a:r>
          </a:p>
        </p:txBody>
      </p:sp>
    </p:spTree>
    <p:extLst>
      <p:ext uri="{BB962C8B-B14F-4D97-AF65-F5344CB8AC3E}">
        <p14:creationId xmlns:p14="http://schemas.microsoft.com/office/powerpoint/2010/main" val="2987429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257AE-4ADF-46F9-AE9C-FA68B6E0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EFC7D-E72E-4498-AD95-CA33787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Prompt’a ne gönderiyoruz?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7DC58-B427-4D1E-A21A-EE7585F5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İzin verilen alanlar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playedMove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bestMove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evaluationBefore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evaluationAfter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lossInCentipawns</a:t>
            </a:r>
          </a:p>
          <a:p xmlns:a="http://schemas.openxmlformats.org/drawingml/2006/main">
            <a:pPr>
              <a:buNone/>
              <a:defRPr sz="16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engineReply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E24C-2705-4C9C-841D-DB0A4AD6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allowlist?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Gereksiz bağlamı azaltır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Prompt injection yüzeyini daraltır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Test edilebilirliği artırır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• Modelin rolünü sınırlar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1576A-DBFD-4DF7-BE59-A2E66A13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LLM’e ham FEN veya istemci iddiası değil, backend’in ürettiği DTO gider.</a:t>
            </a:r>
          </a:p>
        </p:txBody>
      </p:sp>
    </p:spTree>
    <p:extLst>
      <p:ext uri="{BB962C8B-B14F-4D97-AF65-F5344CB8AC3E}">
        <p14:creationId xmlns:p14="http://schemas.microsoft.com/office/powerpoint/2010/main" val="182879306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9E1B2-C584-45FF-A536-7B58B1C8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9A22C-8569-472D-9B1E-00391E0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neden gerekli?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9DE2E-1699-4C18-88E9-D8551C0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Serbest metin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“Bence bu hamle biraz kötü...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Belki d4 oynanabilirdi...”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Parsing ve UI güveni zayıf.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E2919-94E2-441F-B088-2EE9DE44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sözleşmesi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summary,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explanation,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lesson,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  confidence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Validation yapılabilir.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D270E-B742-44CF-BDE5-60A1BFC1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UI, modelin cümlesini değil, doğrulanmış response schema’sını tüketir.</a:t>
            </a:r>
          </a:p>
        </p:txBody>
      </p:sp>
    </p:spTree>
    <p:extLst>
      <p:ext uri="{BB962C8B-B14F-4D97-AF65-F5344CB8AC3E}">
        <p14:creationId xmlns:p14="http://schemas.microsoft.com/office/powerpoint/2010/main" val="102958480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DB2B1-025C-494C-B8F2-51EF7D6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D5D9C-8D70-4DBA-B253-60DA71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 cevabı güvenilir değilse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43AD5-9262-4D08-AEBB-D193B335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E44E7-2EC7-4296-AE5B-26303ADD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02FD-B48D-42AD-A123-2F1C2CC6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668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29AA8-6220-4766-8E79-AE4F74C9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F5949-E432-4800-A75D-95F93870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JSON parse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1EB95F-E6A9-4260-A4FB-74262CCE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1DF1-9D0E-4B8E-9E47-03C2488E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0D3A2-AD32-4FEE-B215-7E2D2F9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Alan eksik veya yanlış tip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DAE6B-3F7E-4F9A-82F3-FF4AF26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02676-3CD4-4864-BC0F-4E03E51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3BD6B-B25D-4B5F-88C7-40864D0C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Confidence geçersiz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4B212-E09A-4352-A140-B26194E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coach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3C910-39EA-4931-9B45-FD0D482C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9F2D3-C564-47B0-985F-49AF43EB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47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Geçerli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CF00C-D64B-4BA9-8D59-9CA3534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00575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UI’ye gönder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F2B77-5A03-4879-8416-0DCD8839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LLM kullanılamıyor diye satranç state’i veya motor analizi bozulmamalı.</a:t>
            </a:r>
          </a:p>
        </p:txBody>
      </p:sp>
    </p:spTree>
    <p:extLst>
      <p:ext uri="{BB962C8B-B14F-4D97-AF65-F5344CB8AC3E}">
        <p14:creationId xmlns:p14="http://schemas.microsoft.com/office/powerpoint/2010/main" val="25416543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2B13B3-A4B0-4E38-B956-84E085E0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83D9-19AC-4F17-AA9B-266019B3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Grounding, RAG ve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62370-9A3C-4643-92F0-3D8E01E6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MVP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hesaplar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prompt context</a:t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LLM açıklar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Retrieval yok.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8FA67-53A9-448D-A0CE-8F1E1A7D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İleride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Eski oyunlar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öğretim materyali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benzer pozisyonlar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Arama +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98496-860D-4D28-9A43-CA7BB9F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571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Doğru mu?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Anlaşılır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Tutarlı mı?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Maliyeti ne?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C9271-7679-4927-B8CC-D26EE90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RAG bağlam getirir; evaluation sistemin iyi çalışıp çalışmadığını ölçer.</a:t>
            </a:r>
          </a:p>
        </p:txBody>
      </p:sp>
    </p:spTree>
    <p:extLst>
      <p:ext uri="{BB962C8B-B14F-4D97-AF65-F5344CB8AC3E}">
        <p14:creationId xmlns:p14="http://schemas.microsoft.com/office/powerpoint/2010/main" val="93315277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2B050-4CF1-4F94-A677-8CBD2DB7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7 · LLM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E0FA6-DC83-469C-9E5C-3C5973B7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7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76A-8311-4705-9A0F-A748FBD9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LLM’i serbest karar verici olarak değil, doğrulanmış analiz DTO’sunu açıklayan kontrollü bir katman olarak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22FDA-98E1-42C5-9BCE-3F301267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“LLM’e allowlist edilmiş structured context gönderiyor, JSON response’u validate ediyor ve model hatasında deterministic fallback kullanıyorum.”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6D4E-3524-4DD3-B6D3-A8953A4F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Evaluation dataset ve AI quality ölçümü</a:t>
            </a:r>
          </a:p>
        </p:txBody>
      </p:sp>
    </p:spTree>
    <p:extLst>
      <p:ext uri="{BB962C8B-B14F-4D97-AF65-F5344CB8AC3E}">
        <p14:creationId xmlns:p14="http://schemas.microsoft.com/office/powerpoint/2010/main" val="56787102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86832-E6A9-4F60-BCB0-1F5538B1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sistemi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C2B7-F2D7-46C3-BB24-5CB6FC8A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“Çalışıyor” demek yerine kaliteyi ölçmek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267ED-232B-455D-94CA-D404DE34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8 · Dataset, metrics ve regression</a:t>
            </a:r>
          </a:p>
        </p:txBody>
      </p:sp>
    </p:spTree>
    <p:extLst>
      <p:ext uri="{BB962C8B-B14F-4D97-AF65-F5344CB8AC3E}">
        <p14:creationId xmlns:p14="http://schemas.microsoft.com/office/powerpoint/2010/main" val="104521931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FB89C-37E2-4ECC-BBC6-B1DC664E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3FFE7-AE57-44FF-AEAB-74BF1E0B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 ile evaluation aynı şey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C36D7-4E34-4226-B7D6-F288B120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pozisyonu oynattım.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Cevap güzel göründü.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örnek.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Seçim yanlılığı yüksek.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47DB3-3EC2-4AB1-A5DE-B370CF3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Tanımlı örnek seti.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Beklenen sonuç.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Tekrarlanabilir ölçüm.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Regression yakalar.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AA9B-A145-42D7-A309-60EB0556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Bir örnek iyi sonuç verebilir; dataset sistemin genel davranışını gösterir.</a:t>
            </a:r>
          </a:p>
        </p:txBody>
      </p:sp>
    </p:spTree>
    <p:extLst>
      <p:ext uri="{BB962C8B-B14F-4D97-AF65-F5344CB8AC3E}">
        <p14:creationId xmlns:p14="http://schemas.microsoft.com/office/powerpoint/2010/main" val="162330641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3575E-2FB7-4119-B62A-DFE35DC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0FA1-5073-4BCD-B380-7BE1926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Bir evaluation örneği neleri içerir?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900E-A1A0-4CE0-A913-B6470145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096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id: "opening-blunder-001",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fenBefore: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playedMove: "e2e4",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engineEvaluation: { kind: "centipawn", value: -80 },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expectedClass: "inaccuracy",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expectedLesson: "...",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tags: ["opening", "center"]</a:t>
            </a:r>
          </a:p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86152-DABD-44DA-960A-94B0DD12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Test örneği yalnızca prompt değil, doğrulanabilir beklenen davranış taşır.</a:t>
            </a:r>
          </a:p>
        </p:txBody>
      </p:sp>
    </p:spTree>
    <p:extLst>
      <p:ext uri="{BB962C8B-B14F-4D97-AF65-F5344CB8AC3E}">
        <p14:creationId xmlns:p14="http://schemas.microsoft.com/office/powerpoint/2010/main" val="14245079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7FFB-B932-4835-B579-451B4752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E0FC7-C7BC-413D-9E20-EBFF7D4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Kaliteyi tek metrikle ölçemeyiz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1494-0FAB-48E9-BCE8-D0C37C44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correctness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C611B-DD5D-4FF7-AB30-1E834D22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Best move ve score doğru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C92F4-B9ED-4EB4-BD96-D4950B01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5EE5-45BE-4F9E-A34F-4F1672A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Loss doğru sınıfa dönüştü mü?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2AB6C0-D8EF-4B17-9491-2F6D8A18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Explanation fidelity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F58D1-3A3A-436B-9175-F8EAD3ED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motor sonucunu değiştirdi mi?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9BECF-B6FE-4769-9492-09EC87ED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Pedagogy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B836B-A4E9-4764-8BD9-7755F03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ne yapacağını anlayabiliyor mu?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A1DB3-F8EA-492C-9910-9A31AF1D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9E454-6905-4E0B-8585-E75DF133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Timeout, fallback ve schema davranışı?</a:t>
            </a:r>
          </a:p>
        </p:txBody>
      </p:sp>
    </p:spTree>
    <p:extLst>
      <p:ext uri="{BB962C8B-B14F-4D97-AF65-F5344CB8AC3E}">
        <p14:creationId xmlns:p14="http://schemas.microsoft.com/office/powerpoint/2010/main" val="13552744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E557E-39EC-48B5-8047-B45D46CC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2149A-4162-48C6-A9B4-9F829F77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Neyi otomatik, neyi insanla ölçeriz?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11A91-4ED2-4B01-B748-7F01677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doğru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legal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Classification eşiklere uyuyor mu?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JSON schema geçerli mi?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07A8A-3098-48CC-8C4F-5B741369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Açıklama anlaşılır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Ton yargılayıcı mı?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Ders uygulanabilir mi?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seviyesine uygun mu?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8CCC-27A2-48F6-B036-8C3A7450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LLM-as-judge yardımcı olabilir; insan örneklem kontrolü gerekir.</a:t>
            </a:r>
          </a:p>
        </p:txBody>
      </p:sp>
    </p:spTree>
    <p:extLst>
      <p:ext uri="{BB962C8B-B14F-4D97-AF65-F5344CB8AC3E}">
        <p14:creationId xmlns:p14="http://schemas.microsoft.com/office/powerpoint/2010/main" val="23058638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55505-7275-4212-9FAC-C662887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D25BB-F5C4-43AE-B26C-0CA6153B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pipeline ve regression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EAFAC-6992-4FD9-8000-B11166A8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8CAC6-398D-4C2A-91CB-6FFA60E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668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Dataset’i sabitle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A6356-0B3B-40CF-808E-B407726B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version +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8C9E5-713E-4C7C-8FA7-A703F46E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31EF6-BB1B-4A67-980E-32A63A00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03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 örneği çalıştır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5CAE-5848-4413-8E22-ADF38FFB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+ coach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D07E-3106-4652-98F7-70576A4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39255-508F-48B8-A879-B5ACA88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337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Metrikleri hesapla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5CCFC-A55F-4435-A6E4-D1CF92B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3372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accuracy, pass rate, latency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8F2D8-A5C0-49E1-A4DE-901B71CD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BB658-CC62-4E99-A8C7-50549929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6715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Önceki sürümle karşılaştır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9A1BE-1AFF-44E9-BD78-C696C227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671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regression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0FC5A-8C83-460C-90DB-3D1A2EFD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6507A-F5B6-47E2-BFA9-D27066A7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00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CI’da eşik uygula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F7F9BA-30D3-4CEB-8E0B-CC85EF88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005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fail veya review</a:t>
            </a:r>
          </a:p>
        </p:txBody>
      </p:sp>
    </p:spTree>
    <p:extLst>
      <p:ext uri="{BB962C8B-B14F-4D97-AF65-F5344CB8AC3E}">
        <p14:creationId xmlns:p14="http://schemas.microsoft.com/office/powerpoint/2010/main" val="41987495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69794-2651-4598-B4E1-563E3F7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A84EB-F750-4B31-902F-FA3DC544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8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63CBA-5360-4D24-A429-DED325E4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örnek göstererek değil, tanımlı dataset ve metriklerle değerlendirebilirsin.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5F4C-67A3-4E72-BF4D-2F9D930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72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“Engine doğruluğunu deterministic testlerle, coach kalitesini rubric ve insan örneklemiyle ölçüp regression sonuçlarını CI’da takip ederim.”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76499-6511-4B27-987B-76442272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Docker, CI/CD ve deployment</a:t>
            </a:r>
          </a:p>
        </p:txBody>
      </p:sp>
    </p:spTree>
    <p:extLst>
      <p:ext uri="{BB962C8B-B14F-4D97-AF65-F5344CB8AC3E}">
        <p14:creationId xmlns:p14="http://schemas.microsoft.com/office/powerpoint/2010/main" val="1423217536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4413-5A9C-4F16-8444-2235BD6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Docker, CI/CD ve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D567F-40F0-4097-B27B-8EB98DB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Kodun makinemde çalışmasından servisin teslimine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76AF1-23A2-4F54-99A5-EAF94E7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9 · Paketleme, otomasyon ve operasyon</a:t>
            </a:r>
          </a:p>
        </p:txBody>
      </p:sp>
    </p:spTree>
    <p:extLst>
      <p:ext uri="{BB962C8B-B14F-4D97-AF65-F5344CB8AC3E}">
        <p14:creationId xmlns:p14="http://schemas.microsoft.com/office/powerpoint/2010/main" val="182428606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B105A-2CBA-49AA-97B3-948A466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0C622-D908-4EF3-8A31-B5786BA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Neden paketleme ve teslimat öğrenmeliyiz?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CA104-9ACC-4008-86A2-5CE82F9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Yerel makine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Python sürümü farklı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Stockfish yolu farklı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Çevre değişkeni eksik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→ ‘Bende çalışıyor’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56C81-83A2-4A0B-8B1F-04126D7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Teslim edilebilir servis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Sabit runtime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Açık config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Otomatik test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→ Tekrarlanabilir davranış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48303-0438-4877-A580-A23F63D3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Container çözümün tamamı değildir; ortam farkını azaltan bir sözleşmedir.</a:t>
            </a:r>
          </a:p>
        </p:txBody>
      </p:sp>
    </p:spTree>
    <p:extLst>
      <p:ext uri="{BB962C8B-B14F-4D97-AF65-F5344CB8AC3E}">
        <p14:creationId xmlns:p14="http://schemas.microsoft.com/office/powerpoint/2010/main" val="206076235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91BF-B988-4ED4-B0BE-351D83D5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35FA4-69D4-4C59-83C7-69DCEBC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Dockerfile neyi garanti eder, neyi etmez?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8EF4E-BD2A-4E2F-BE6D-8EB66F1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5048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 python:3.12-slim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WORKDIR /app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requirements.txt .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RUN pip install -r requirements.txt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COPY backend ./backend</a:t>
            </a:r>
          </a:p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CMD ["uvicorn", "backend.main:app"]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C801D-9E5D-4F8C-9244-5FC1EC8D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temel image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install adımı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aynı start komutu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8994E-08F8-4849-BF6A-7ECF8DC7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095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Garanti etmez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doğru secret yönetimi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Stockfish binary erişimi</a:t>
            </a:r>
          </a:p>
          <a:p xmlns:a="http://schemas.openxmlformats.org/drawingml/2006/main">
            <a:pPr>
              <a:buNone/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• güvenli production config</a:t>
            </a:r>
          </a:p>
        </p:txBody>
      </p:sp>
    </p:spTree>
    <p:extLst>
      <p:ext uri="{BB962C8B-B14F-4D97-AF65-F5344CB8AC3E}">
        <p14:creationId xmlns:p14="http://schemas.microsoft.com/office/powerpoint/2010/main" val="160269838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615C2-D4B7-47AA-A577-2DF5EB99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EF655-68AC-4AD5-B867-95D31A11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Development, test ve production aynı değildir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E2677-7C77-46C5-879F-5A35FD5A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EFDB3-F0E8-4546-8216-88505E47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hot reload, kolay log, mock izinli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D032A-9A5C-4FD9-810C-85A87A9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5DC38-ECA9-4C6A-90FC-27E9528F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deterministic fixture, gerçek validation, izole 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D85F6-F71E-49FE-9A87-9EA4561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400E9-F719-4BE9-8143-0C4DC486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dışarıdan, timeout, health check, sınırlı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EC13-9F7E-401D-A0AB-764439D6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Config’i koddan ayırmak, aynı uygulamayı farklı ortamlarda güvenle çalıştırmanın temelidir.</a:t>
            </a:r>
          </a:p>
        </p:txBody>
      </p:sp>
    </p:spTree>
    <p:extLst>
      <p:ext uri="{BB962C8B-B14F-4D97-AF65-F5344CB8AC3E}">
        <p14:creationId xmlns:p14="http://schemas.microsoft.com/office/powerpoint/2010/main" val="30383575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C7ACF-08DC-49D6-B826-7816418E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10A93-C745-4219-B3BE-7AF4615F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 pipeline: merge olmadan hangi kapılardan geçeriz?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42B2-D9AD-4A7E-A05A-74657E7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1DA12-98F6-4662-8D48-D3EFC53B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192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7519-41C1-46DA-9C5D-662814F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requirements + cache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BE101-2327-48DB-8982-8D0EED08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97649-898A-45E7-A935-C3928688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622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Lint / type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7AE315-525F-4E90-8264-3180F0C0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stil ve basit hatalar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30B87-EB0D-47A4-AC04-D6B4E9E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9C08E-13D2-447C-8FEF-F6CBD11C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Unit + contract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83B13-5CDD-4C39-8C8A-AD64891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051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validation, service,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C3DDC-A44E-4131-8153-4F19F5CC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EEC5D-78B4-49F1-92B0-50C69D0E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 smoke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57512-51CF-419A-9B28-7A837CA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küçük sabit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07050-5C09-4D35-BF27-3F394D2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BEF80-763E-4725-A0DE-E8D898F5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910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Build artifact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D82E1C-CE1C-4B8A-AB94-98D66742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910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Docker image / receipt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2988E-5243-466E-A047-CA85A53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Amaç: sorunları production’da değil, değişiklik anında yakalamak.</a:t>
            </a:r>
          </a:p>
        </p:txBody>
      </p:sp>
    </p:spTree>
    <p:extLst>
      <p:ext uri="{BB962C8B-B14F-4D97-AF65-F5344CB8AC3E}">
        <p14:creationId xmlns:p14="http://schemas.microsoft.com/office/powerpoint/2010/main" val="80650623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C31BA-C095-493E-86D2-4FB9281B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928C3-3910-4D2B-BB1E-5F517D9F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Deployment sonrası da ürün devam eder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BD6F8-42F5-42E8-9678-D2CBE43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Health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GET /health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Uygulama ayakta mı?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erişilebilir mi?</a:t>
            </a:r>
          </a:p>
          <a:p xmlns:a="http://schemas.openxmlformats.org/drawingml/2006/main">
            <a:pPr>
              <a:buNone/>
              <a:defRPr sz="187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Config tamam mı?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A8571-4CEC-47DA-B71A-242C378D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Gözlemlenebilirlik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request id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timeout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fallback sayısı</a:t>
            </a:r>
          </a:p>
          <a:p xmlns:a="http://schemas.openxmlformats.org/drawingml/2006/main">
            <a:pPr>
              <a:buNone/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hata oranı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DDDD-5339-4B68-ADCE-DEB08179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AI sisteminde başarı: doğru cevap + kabul edilebilir gecikme + kontrollü hata davranışı.</a:t>
            </a:r>
          </a:p>
        </p:txBody>
      </p:sp>
    </p:spTree>
    <p:extLst>
      <p:ext uri="{BB962C8B-B14F-4D97-AF65-F5344CB8AC3E}">
        <p14:creationId xmlns:p14="http://schemas.microsoft.com/office/powerpoint/2010/main" val="169606286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03409-6D65-453C-A112-4FDED123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9 ·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16842-2005-4C69-B14E-238EF0AB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9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F689D-8F97-4A71-8157-25F9A72E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özelliğini paketleyip test kapılarından geçirerek tekrarlanabilir bir servis olarak teslim edebilirsin.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C04D-6B92-4EAE-984F-6340DCC1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“FastAPI servisini containerize edip CI’da test, evaluation smoke ve image build adımlarını çalıştırıyor; health check ve timeout davranışını gözlemliyorum.”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05C5-AD62-471E-9901-995E4270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Güvenlik, maliyet ve production guardrail’leri</a:t>
            </a:r>
          </a:p>
        </p:txBody>
      </p:sp>
    </p:spTree>
    <p:extLst>
      <p:ext uri="{BB962C8B-B14F-4D97-AF65-F5344CB8AC3E}">
        <p14:creationId xmlns:p14="http://schemas.microsoft.com/office/powerpoint/2010/main" val="111211703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C5F46-6F58-4519-9819-AA52902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Güvenlik, maliyet ve guardrail’ler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8638D-CD05-4B56-A6FE-42D8946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İyi cevap kadar kontrollü davranış da ürün kalitesidir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C1944-DC48-4D85-8648-BE139579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10 · Input, model, secret ve operasyon sınırları</a:t>
            </a:r>
          </a:p>
        </p:txBody>
      </p:sp>
    </p:spTree>
    <p:extLst>
      <p:ext uri="{BB962C8B-B14F-4D97-AF65-F5344CB8AC3E}">
        <p14:creationId xmlns:p14="http://schemas.microsoft.com/office/powerpoint/2010/main" val="51114120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8E1FC-530C-48A0-9EBD-C7BD0C7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32DB3-16FB-47AD-9B6F-FCD3C59B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ChessLens’in saldırı ve hata yüzeyi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55994-E28B-47DB-B24D-4EB3B013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Kullanıcı girdisi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22F7A-76AF-4E85-A121-7F379782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Geçersiz FEN, aşırı uzun metin, beklenmeyen move 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7D5C0-DDD8-453D-B831-46B5DEEC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süreci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F653E-4A96-49F2-B424-74FCF0E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Yanlış binary yolu, timeout, process kaynak tüketimi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D35FC-59AC-4045-B36E-0D1B1F8B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 çağrısı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27739-9981-4C38-822F-65E44FD2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 injection, uydurma iddia, yüksek token maliyeti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38001-B50C-4ED1-A6E3-EF140CD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API ve loglar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7E28D-3AB9-43A0-AB8D-01100F0C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628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sızıntısı, hassas oyun verisi, sınırsız istek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0F93-B7E4-4515-91E7-9CEF5C4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Risk listesi, hangi sınırda hangi kontrolün çalışacağını görünür kılar.</a:t>
            </a:r>
          </a:p>
        </p:txBody>
      </p:sp>
    </p:spTree>
    <p:extLst>
      <p:ext uri="{BB962C8B-B14F-4D97-AF65-F5344CB8AC3E}">
        <p14:creationId xmlns:p14="http://schemas.microsoft.com/office/powerpoint/2010/main" val="153128089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0ECF8-3D4A-4362-8655-F420B9C7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4DD39-7AB3-48C8-AB9F-FCA27A2A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Input validation ve prompt sınırı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6DC45-AD8B-4030-B357-5DF7831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API katmanı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 formatını doğrula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 id’yi sınırla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Metin uzunluğunu sınırla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Oyuncu girdisini etiketle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69DC03-87DF-4AB8-B0DC-D95D440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 katmanı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sonucunu allowlist yap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metnini talimat sayma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Sadece schema içindeki alanları üret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Belirsizlikte fallback kullan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A93E-28D8-43CE-B2DA-53B972A2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Prompt, güvenlik sınırı değildir; server-side validation yine gerekir.</a:t>
            </a:r>
          </a:p>
        </p:txBody>
      </p:sp>
    </p:spTree>
    <p:extLst>
      <p:ext uri="{BB962C8B-B14F-4D97-AF65-F5344CB8AC3E}">
        <p14:creationId xmlns:p14="http://schemas.microsoft.com/office/powerpoint/2010/main" val="23517864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C910F-4E15-4D7F-BD87-C316F3F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0E91C-E568-4225-98C9-931E770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ve veri yönetimi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5CA11-DF45-4FAE-93DE-1DCA162B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Kod deposu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3BED5-09DB-4A83-BA0D-E1F7ADE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API key veya Stockfish path için secret commit etme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7D49-DA43-44C6-A6CE-3E1E8E82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Runtime 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78CE3-8C98-438D-87BD-0EC54FB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Environment variable veya secret store kullan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43238-CAEA-4BC3-974E-64D6F288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Loglar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305DA-913A-42A1-8F0B-BA5B252D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2897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Prompt, token ve oyun verisini gerektiği kadar yaz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251BF-8A3D-4502-BF1E-56DFE8D9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80FDB-8B3D-4673-97E8-54F7C5C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Kullanıcıya internal path, stack trace veya secret döndürme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61AAC-720F-409F-A76E-F1B1E681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Minimum ilke: ihtiyaç kadar veri, kısa saklama süresi, açık erişim sınırı.</a:t>
            </a:r>
          </a:p>
        </p:txBody>
      </p:sp>
    </p:spTree>
    <p:extLst>
      <p:ext uri="{BB962C8B-B14F-4D97-AF65-F5344CB8AC3E}">
        <p14:creationId xmlns:p14="http://schemas.microsoft.com/office/powerpoint/2010/main" val="117594730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26AF8-B3F4-4A1B-ADE6-EE1BDE20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E4D5-2F3B-4696-A153-A1A41D9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Maliyet ve gecikme guardrail’leri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22F13-ABF7-4A74-B7C1-8F50B91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Maliyeti oluşturanlar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 token sayısı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sıklığı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 analiz süresi</a:t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Tekrar denemeler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Ölçmeden optimize edemeyiz.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53DB2-A763-41EF-8087-24F593FD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572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İlk kontroller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max token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request timeout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retry limiti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cache adayı</a:t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model seçimi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Her kontrol ölçülebilir olmalı.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7641-9965-4E87-98D3-F68AEA31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Amaç en ucuz sistemi kurmak değil, beklenen kaliteyi öngörülebilir maliyetle sunmak.</a:t>
            </a:r>
          </a:p>
        </p:txBody>
      </p:sp>
    </p:spTree>
    <p:extLst>
      <p:ext uri="{BB962C8B-B14F-4D97-AF65-F5344CB8AC3E}">
        <p14:creationId xmlns:p14="http://schemas.microsoft.com/office/powerpoint/2010/main" val="68796230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8A8A8A-6F8F-4376-A488-FD52BFC5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21348-AC96-4BA4-9869-0CF3D06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Guardrail matrisi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FD575-38F6-4005-8075-E6F0F80D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70860-089D-4A63-A015-6916DA7A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Schema + length limit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47E13-08AC-48CD-AF88-5EB96A0A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400 hatası / güvenli ret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76C0B-294C-422A-BE89-1B46A35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145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34980-A6A6-46E0-8A9D-40982AC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145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Timeout + process 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BEF19-34CC-4B0F-9D93-8A9FC4F9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145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+ teknik 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64897-3D0C-40CE-BCB0-94EA5B49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D167A-1B02-4B01-8060-17DB8DE3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+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D2D5F-B158-4215-9B57-602BAEED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575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Deterministic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0016D-8734-43E1-8FD3-54A98ECD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004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8C570-9FD5-46EB-9FB1-4B6974B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0047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Token + request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5F182-3003-4221-BA07-F705899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004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Rate limit / degrade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D7230-1B19-4ACA-AC6E-97BE2E68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92F21-E3D5-48D4-BBDB-FEE5F396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43425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Secret redaction + retention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CE7EE-0023-4357-954B-847CE0D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434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Erişimi kes / silme akışı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BCC9B-6F47-4F99-997E-D216072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Guardrail, risk ile kullanıcıya görünen hata davranışı arasındaki bağlantıdır.</a:t>
            </a:r>
          </a:p>
        </p:txBody>
      </p:sp>
    </p:spTree>
    <p:extLst>
      <p:ext uri="{BB962C8B-B14F-4D97-AF65-F5344CB8AC3E}">
        <p14:creationId xmlns:p14="http://schemas.microsoft.com/office/powerpoint/2010/main" val="150216535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6A84A-4751-47CF-89A2-FE6AEED7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10 · 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713F2-5E1D-4AA5-9CD3-5853E2EA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10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5E395-98C1-4ABD-817C-594003F1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AI akışını yalnızca doğru cevap açısından değil, güvenlik, maliyet ve hata davranışı açısından tasarlayabilirsin.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747DE-5A2C-4C71-A915-F21D34BF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buNone/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“Input’u schema ile sınırlandırıyor, engine ve LLM timeout’larında güvenli fallback kullanıyor; token, latency ve hata oranını izleyerek guardrail’leri test ediyorum.”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D48CA-8A22-477C-B3FF-6AA01FB1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bölüm: ChessLens MVP’yi uçtan uca birleştirmek</a:t>
            </a:r>
          </a:p>
        </p:txBody>
      </p:sp>
    </p:spTree>
    <p:extLst>
      <p:ext uri="{BB962C8B-B14F-4D97-AF65-F5344CB8AC3E}">
        <p14:creationId xmlns:p14="http://schemas.microsoft.com/office/powerpoint/2010/main" val="2441264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AB29B-52BA-47F6-B262-9E624A41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33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ChessLens MVP akışı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AA0A4-F385-48E4-B70C-E9CE29A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9D0C8"/>
                </a:solidFill>
                <a:latin typeface="Arial"/>
                <a:ea typeface="Arial"/>
                <a:cs typeface="Arial"/>
              </a:rPr>
              <a:t>Kullanıcı hamlesinden güvenilir koç cevabına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EAD6F-4862-4EB0-9679-3311C545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Bölüm 11 · Servis sınırlarını ve failure path’leri birleştirmek</a:t>
            </a:r>
          </a:p>
        </p:txBody>
      </p:sp>
    </p:spTree>
    <p:extLst>
      <p:ext uri="{BB962C8B-B14F-4D97-AF65-F5344CB8AC3E}">
        <p14:creationId xmlns:p14="http://schemas.microsoft.com/office/powerpoint/2010/main" val="20685407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29BE7-F013-4741-A312-FF0DA3D1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11 · END-TO-END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28E52-DE91-4F6B-97F0-210EF153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İstek sözleşmesi: UI ne gönderir?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65C28-23AD-4170-A87D-DE776612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gameId: "game-123",</a:t>
            </a:r>
          </a:p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moveId: "move-07",</a:t>
            </a:r>
          </a:p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move: "e2e4",</a:t>
            </a:r>
          </a:p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  clientPly: 7</a:t>
            </a:r>
          </a:p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7CDB4-A7BE-4568-B541-28A7543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390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Client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UI hamle niyetini gönderir.</a:t>
            </a:r>
          </a:p>
          <a:p xmlns:a="http://schemas.openxmlformats.org/drawingml/2006/main">
            <a:pPr>
              <a:defRPr sz="18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FEN’i server üretir.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9BE4D-3119-4075-9317-F1F7500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24250"/>
            <a:ext cx="390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Server authority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Legal move, game state ve sıra</a:t>
            </a:r>
          </a:p>
          <a:p xmlns:a="http://schemas.openxmlformats.org/drawingml/2006/main">
            <a:pPr>
              <a:defRPr sz="17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server tarafından doğrulanır.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CD54F-F724-470F-8E60-B064B405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Aynı gameId ve moveId, geç gelen cevabın yanlış oyuna yazılmasını önler.</a:t>
            </a:r>
          </a:p>
        </p:txBody>
      </p:sp>
    </p:spTree>
    <p:extLst>
      <p:ext uri="{BB962C8B-B14F-4D97-AF65-F5344CB8AC3E}">
        <p14:creationId xmlns:p14="http://schemas.microsoft.com/office/powerpoint/2010/main" val="633983990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89CA1A-E4D6-49C2-BA3D-51D2CBED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11 · END-TO-END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BC2AF-EE45-4350-A2EA-7A385800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Tek istek içinde çalışan dikey akış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8AD32-C720-438A-B8E8-3BFFD33D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4BA05-343B-4640-A0F1-B57E2207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Validate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8F936-C620-4FD6-996A-12A5689C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schema, gameId,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C2DDD-3A5A-4D8A-905D-42895596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E7A0E-7554-407C-A039-9943F223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431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Apply legal move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BC2D3-EE11-4D6B-B312-2A46FF0E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board state + SAN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38461-75A5-4F34-B8FD-5F56A496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12872-8EA8-4135-A705-202F591A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Run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D8904-1FE1-4260-A046-EADA6F95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before / after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CB73F9-3566-4F16-8C1B-A3C84BFC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5C024A-B38E-48AE-9705-CB8081BF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Classify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34FEC-CA0A-429B-8E93-420042D3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loss, mate, severity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074A66-F547-4ADD-B0AF-9D551D22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92459-C238-4AE6-91AF-E49A3BE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4337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Generate coach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DA538-41EA-4E88-94F5-E5D6CCB4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43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grounded structured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AF5FD-9BA0-4A58-9949-BD1CB45A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619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9AB22-1732-43C7-836E-49B43200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Return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22D56-FAFB-4A31-94D0-DBCF785F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012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analysis + fallback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6D3A2-2AE4-4886-BF57-8371E388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Bu sırayı bilmek, hata çıktığında doğru katmana gitmeyi sağlar.</a:t>
            </a:r>
          </a:p>
        </p:txBody>
      </p:sp>
    </p:spTree>
    <p:extLst>
      <p:ext uri="{BB962C8B-B14F-4D97-AF65-F5344CB8AC3E}">
        <p14:creationId xmlns:p14="http://schemas.microsoft.com/office/powerpoint/2010/main" val="157393635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AE01F-3497-45F7-824F-2D96F197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11 · END-TO-END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27A09-6E8B-4253-8AAB-4172FB44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Katmanlar arasında hangi veri taşınır?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9078C-C8CF-4ABC-9D60-9DD3F54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0C01F-0AF3-467E-8F62-D3864496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71625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kind, score, bestMove, principalVariation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10B08-1063-48E9-B876-D03AA440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MoveAnalysis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9DDB0-07FE-422E-968C-09211F2C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before, after, loss, classification, playerColor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7AC83-3DF0-464A-8ADE-FBF85EF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488A9-7BAA-4543-83E3-9F7D948A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95625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validated analysis + player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8DB6A-8F06-4085-B53F-45253FF8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CoachResponse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B7DB7-FEB9-40B4-BFAA-1A11A804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lesson, why, nextIdea,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CAE3C-24F7-49AC-97A0-F9C076D1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DTO sınırları, engine gerçeği ile insan dili arasındaki dönüşümü görünür kılar.</a:t>
            </a:r>
          </a:p>
        </p:txBody>
      </p:sp>
    </p:spTree>
    <p:extLst>
      <p:ext uri="{BB962C8B-B14F-4D97-AF65-F5344CB8AC3E}">
        <p14:creationId xmlns:p14="http://schemas.microsoft.com/office/powerpoint/2010/main" val="59437842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33992-7F33-4B50-B896-7F1B7372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11 · END-TO-END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5A1A4-8071-40EF-8919-EC4169F7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Başarısızlık yolları da ürün akışıdır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00617-1513-4269-ADD2-98B2F0C3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Invalid move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1805F-BC74-4CC3-9052-E6A2E80F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716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400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3DDB5-54BF-41EF-A305-A61EAB0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716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Board state değişmez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426AB-6617-428A-816A-6477B5B3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Engine timeout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AAA6C-3B72-4C46-B2B3-3D67FC2F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717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Controlled fallback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CA039-C155-4B31-8979-60D1C526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717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Hamle sonucu + açıklama bekliyor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4CAA8-544F-47D6-A3C7-0B7C367B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LLM schema invalid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A063C-0AAE-413B-B147-20C1C25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718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Deterministic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A9619-3E0A-42D8-9951-5A6CB63D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Engine sınıfı gösterilir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A4649-9029-4443-8801-7DBE41F5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Stale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E68807-93AA-4596-B5FC-8B4A5F79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71925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Client ignores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0DC4D-F0B3-4C87-B78F-182081AF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71925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gameId / moveId eşleşmez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BC8E9-55FD-4D56-8F61-7CD29054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Güvenilirlik, yalnızca başarılı yolun kalitesi değil, failure path’in kontrolüdür.</a:t>
            </a:r>
          </a:p>
        </p:txBody>
      </p:sp>
    </p:spTree>
    <p:extLst>
      <p:ext uri="{BB962C8B-B14F-4D97-AF65-F5344CB8AC3E}">
        <p14:creationId xmlns:p14="http://schemas.microsoft.com/office/powerpoint/2010/main" val="209348633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E5F2B-7880-4748-AADA-71987877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11 · END-TO-END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09451-0EA6-4D94-A360-801A4570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Uçtan uca slice nasıl test edilir?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5CB57-EAC3-4D9D-8095-15C205F2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83DF8-E05C-4F6F-851B-8BBB0931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Request ve response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1A8AA-CB09-4A82-9CD5-A7B0FE5C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alanlar ve tipler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AFE31-2181-43E5-8FEF-5AD9B9CF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A6A40-002E-462C-B1E6-A963C218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86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GameService + engine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B95A0-B993-42FF-B00D-C6D813A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state ve timeout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AD9F2-2F1B-447F-9C15-9B9D118C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41AD4-7FFA-436F-ACED-0979DF86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Structured output validator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CD0C8-8C7F-4093-A074-98FB2701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fallback ve allowlist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55C5C-1A95-480A-ACB4-489850F0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CF8F9-4404-43DE-82A8-3E7C50E9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Sabit move dataset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C7400C-337A-44E4-B54E-8F023190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class + lesson rubric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207BB-2A67-4418-A12C-9D296EA9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0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3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32B"/>
                </a:solidFill>
                <a:latin typeface="Arial"/>
                <a:ea typeface="Arial"/>
                <a:cs typeface="Arial"/>
              </a:rPr>
              <a:t>Operational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22D92-FD52-4DD6-9B8E-61E56A69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Latency, cost,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96EA7-27AB-4243-B192-C0755603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budget ve regression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52806-C657-44C6-81B1-9A5E9E7F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Testler katmanları ayrı, dikey slice’ı birlikte güvenceye alır.</a:t>
            </a:r>
          </a:p>
        </p:txBody>
      </p:sp>
    </p:spTree>
    <p:extLst>
      <p:ext uri="{BB962C8B-B14F-4D97-AF65-F5344CB8AC3E}">
        <p14:creationId xmlns:p14="http://schemas.microsoft.com/office/powerpoint/2010/main" val="1560714244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55D06-F37F-4375-8B0B-49E31E07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CHESSLENS · BÖLÜM 11 · END-TO-END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EE532-40EF-465E-AC20-EBC2C8AC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Bölüm 11 kazanımı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B0154-15EA-4472-8DFD-4B164165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Kullanıcı hamlesinden coach cevabına kadar tüm MVP akışını izleyebilir, test edebilir ve hata anında doğru katmana gidebilirsin.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64E6B-C1A5-4D9F-BE45-4E6AFCB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990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Mülakat cümlesi:</a:t>
            </a:r>
          </a:p>
          <a:p xmlns:a="http://schemas.openxmlformats.org/drawingml/2006/main">
            <a:pPr>
              <a:defRPr sz="1650" b="1">
                <a:solidFill>
                  <a:srgbClr val="39D0C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D0C8"/>
                </a:solidFill>
                <a:latin typeface="Arial"/>
                <a:ea typeface="Arial"/>
                <a:cs typeface="Arial"/>
              </a:rPr>
              <a:t>“ChessLens’te dikey slice’ı input validation’dan engine ve coach DTO’larına kadar izole sınırlarla kurup failure path’leri contract ve integration testleriyle güvenceye alıyorum.”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C01C7-5A01-456D-B92F-23C74721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2D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8C2D6"/>
                </a:solidFill>
                <a:latin typeface="Arial"/>
                <a:ea typeface="Arial"/>
                <a:cs typeface="Arial"/>
              </a:rPr>
              <a:t>Sıradaki adım: Bu akışı gerçek backend kodunda birlikte yürütmek</a:t>
            </a:r>
          </a:p>
        </p:txBody>
      </p:sp>
    </p:spTree>
    <p:extLst>
      <p:ext uri="{BB962C8B-B14F-4D97-AF65-F5344CB8AC3E}">
        <p14:creationId xmlns:p14="http://schemas.microsoft.com/office/powerpoint/2010/main" val="370770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2026-09-23T11:54:48.7140000Z</dcterms:created>
  <dcterms:modified xsi:type="dcterms:W3CDTF">2026-09-23T11:54:48.7150000Z</dcterms:modified>
</coreProperties>
</file>