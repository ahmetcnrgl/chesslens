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b0636b079a43b2" /><Relationship Type="http://schemas.openxmlformats.org/officeDocument/2006/relationships/extended-properties" Target="/docProps/app.xml" Id="Rdea45a1f6c2141b9" /><Relationship Type="http://schemas.openxmlformats.org/officeDocument/2006/relationships/officeDocument" Target="/ppt/presentation.xml" Id="Rb72aeacdb10e4f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dd8c923559489c"/>
  </p:sldMasterIdLst>
  <p:notesMasterIdLst>
    <p:notesMasterId xmlns:r="http://schemas.openxmlformats.org/officeDocument/2006/relationships" r:id="Ra2c3b1a94623471b"/>
  </p:notesMasterIdLst>
  <p:sldIdLst>
    <p:sldId xmlns:r="http://schemas.openxmlformats.org/officeDocument/2006/relationships" id="256" r:id="Rafed7ab6950b42d3"/>
    <p:sldId xmlns:r="http://schemas.openxmlformats.org/officeDocument/2006/relationships" id="257" r:id="R01bf961ad96146ed"/>
    <p:sldId xmlns:r="http://schemas.openxmlformats.org/officeDocument/2006/relationships" id="258" r:id="Rc92ed4ade1c04c4d"/>
    <p:sldId xmlns:r="http://schemas.openxmlformats.org/officeDocument/2006/relationships" id="259" r:id="Rd933b8c1cf194649"/>
    <p:sldId xmlns:r="http://schemas.openxmlformats.org/officeDocument/2006/relationships" id="260" r:id="R06313a2da3b3488e"/>
    <p:sldId xmlns:r="http://schemas.openxmlformats.org/officeDocument/2006/relationships" id="261" r:id="Rb016bd86fedd476c"/>
    <p:sldId xmlns:r="http://schemas.openxmlformats.org/officeDocument/2006/relationships" id="262" r:id="Ra7fe1a3a71ee42bd"/>
    <p:sldId xmlns:r="http://schemas.openxmlformats.org/officeDocument/2006/relationships" id="263" r:id="R6258912ba96b4c29"/>
    <p:sldId xmlns:r="http://schemas.openxmlformats.org/officeDocument/2006/relationships" id="264" r:id="R4553ada949d64fa1"/>
    <p:sldId xmlns:r="http://schemas.openxmlformats.org/officeDocument/2006/relationships" id="265" r:id="R29c234573ca744ed"/>
    <p:sldId xmlns:r="http://schemas.openxmlformats.org/officeDocument/2006/relationships" id="266" r:id="R1e31b1e2cead4a87"/>
    <p:sldId xmlns:r="http://schemas.openxmlformats.org/officeDocument/2006/relationships" id="267" r:id="Ra444b5ec31bd48e3"/>
    <p:sldId xmlns:r="http://schemas.openxmlformats.org/officeDocument/2006/relationships" id="268" r:id="Rffab536a4e6c44c6"/>
    <p:sldId xmlns:r="http://schemas.openxmlformats.org/officeDocument/2006/relationships" id="269" r:id="Rfb0e4414b58a465f"/>
    <p:sldId xmlns:r="http://schemas.openxmlformats.org/officeDocument/2006/relationships" id="270" r:id="Rc06ca637c196499a"/>
    <p:sldId xmlns:r="http://schemas.openxmlformats.org/officeDocument/2006/relationships" id="271" r:id="Rab3787c95af14de2"/>
    <p:sldId xmlns:r="http://schemas.openxmlformats.org/officeDocument/2006/relationships" id="272" r:id="R03151461eb894639"/>
    <p:sldId xmlns:r="http://schemas.openxmlformats.org/officeDocument/2006/relationships" id="273" r:id="Re10ff362b5d54aaa"/>
    <p:sldId xmlns:r="http://schemas.openxmlformats.org/officeDocument/2006/relationships" id="274" r:id="R0191def9ed4345b2"/>
    <p:sldId xmlns:r="http://schemas.openxmlformats.org/officeDocument/2006/relationships" id="275" r:id="Rff96e38a1ba74e1b"/>
    <p:sldId xmlns:r="http://schemas.openxmlformats.org/officeDocument/2006/relationships" id="276" r:id="R2c91dd9770cf47ba"/>
    <p:sldId xmlns:r="http://schemas.openxmlformats.org/officeDocument/2006/relationships" id="277" r:id="Rf8f4e54dc9ba4696"/>
    <p:sldId xmlns:r="http://schemas.openxmlformats.org/officeDocument/2006/relationships" id="278" r:id="R0106bb82c71343e4"/>
    <p:sldId xmlns:r="http://schemas.openxmlformats.org/officeDocument/2006/relationships" id="279" r:id="R82526775f4174e04"/>
    <p:sldId xmlns:r="http://schemas.openxmlformats.org/officeDocument/2006/relationships" id="280" r:id="R98963826a5a942d6"/>
    <p:sldId xmlns:r="http://schemas.openxmlformats.org/officeDocument/2006/relationships" id="281" r:id="Rebfa754af1254f04"/>
    <p:sldId xmlns:r="http://schemas.openxmlformats.org/officeDocument/2006/relationships" id="282" r:id="R034f46837cdb4b68"/>
    <p:sldId xmlns:r="http://schemas.openxmlformats.org/officeDocument/2006/relationships" id="283" r:id="R3cf52aa61504416e"/>
    <p:sldId xmlns:r="http://schemas.openxmlformats.org/officeDocument/2006/relationships" id="284" r:id="R2f8c317f53db4d93"/>
    <p:sldId xmlns:r="http://schemas.openxmlformats.org/officeDocument/2006/relationships" id="285" r:id="R5a27810a64774745"/>
    <p:sldId xmlns:r="http://schemas.openxmlformats.org/officeDocument/2006/relationships" id="286" r:id="R4821324ca443456c"/>
    <p:sldId xmlns:r="http://schemas.openxmlformats.org/officeDocument/2006/relationships" id="287" r:id="R7eb6cc3544d74471"/>
    <p:sldId xmlns:r="http://schemas.openxmlformats.org/officeDocument/2006/relationships" id="288" r:id="R77a3a20f985b427f"/>
    <p:sldId xmlns:r="http://schemas.openxmlformats.org/officeDocument/2006/relationships" id="289" r:id="R6ca227291e5e4fd5"/>
    <p:sldId xmlns:r="http://schemas.openxmlformats.org/officeDocument/2006/relationships" id="290" r:id="R3419556c24c84a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2ffb754f3d4938" /><Relationship Type="http://schemas.openxmlformats.org/officeDocument/2006/relationships/slideMaster" Target="/ppt/slideMasters/slideMaster1.xml" Id="R24dd8c923559489c" /><Relationship Type="http://schemas.openxmlformats.org/officeDocument/2006/relationships/notesMaster" Target="/ppt/notesMasters/notesMaster1.xml" Id="Ra2c3b1a94623471b" /><Relationship Type="http://schemas.openxmlformats.org/officeDocument/2006/relationships/presProps" Target="/ppt/presProps.xml" Id="R6bec35742ee14408" /><Relationship Type="http://schemas.openxmlformats.org/officeDocument/2006/relationships/tableStyles" Target="/ppt/tableStyles.xml" Id="Rabcf24f021ad402a" /><Relationship Type="http://schemas.openxmlformats.org/officeDocument/2006/relationships/slide" Target="/ppt/slides/slide1.xml" Id="Rafed7ab6950b42d3" /><Relationship Type="http://schemas.openxmlformats.org/officeDocument/2006/relationships/slide" Target="/ppt/slides/slide2.xml" Id="R01bf961ad96146ed" /><Relationship Type="http://schemas.openxmlformats.org/officeDocument/2006/relationships/slide" Target="/ppt/slides/slide3.xml" Id="Rc92ed4ade1c04c4d" /><Relationship Type="http://schemas.openxmlformats.org/officeDocument/2006/relationships/slide" Target="/ppt/slides/slide4.xml" Id="Rd933b8c1cf194649" /><Relationship Type="http://schemas.openxmlformats.org/officeDocument/2006/relationships/slide" Target="/ppt/slides/slide5.xml" Id="R06313a2da3b3488e" /><Relationship Type="http://schemas.openxmlformats.org/officeDocument/2006/relationships/slide" Target="/ppt/slides/slide6.xml" Id="Rb016bd86fedd476c" /><Relationship Type="http://schemas.openxmlformats.org/officeDocument/2006/relationships/slide" Target="/ppt/slides/slide7.xml" Id="Ra7fe1a3a71ee42bd" /><Relationship Type="http://schemas.openxmlformats.org/officeDocument/2006/relationships/slide" Target="/ppt/slides/slide8.xml" Id="R6258912ba96b4c29" /><Relationship Type="http://schemas.openxmlformats.org/officeDocument/2006/relationships/slide" Target="/ppt/slides/slide9.xml" Id="R4553ada949d64fa1" /><Relationship Type="http://schemas.openxmlformats.org/officeDocument/2006/relationships/slide" Target="/ppt/slides/slide10.xml" Id="R29c234573ca744ed" /><Relationship Type="http://schemas.openxmlformats.org/officeDocument/2006/relationships/slide" Target="/ppt/slides/slide11.xml" Id="R1e31b1e2cead4a87" /><Relationship Type="http://schemas.openxmlformats.org/officeDocument/2006/relationships/slide" Target="/ppt/slides/slide12.xml" Id="Ra444b5ec31bd48e3" /><Relationship Type="http://schemas.openxmlformats.org/officeDocument/2006/relationships/slide" Target="/ppt/slides/slide13.xml" Id="Rffab536a4e6c44c6" /><Relationship Type="http://schemas.openxmlformats.org/officeDocument/2006/relationships/slide" Target="/ppt/slides/slide14.xml" Id="Rfb0e4414b58a465f" /><Relationship Type="http://schemas.openxmlformats.org/officeDocument/2006/relationships/slide" Target="/ppt/slides/slide15.xml" Id="Rc06ca637c196499a" /><Relationship Type="http://schemas.openxmlformats.org/officeDocument/2006/relationships/slide" Target="/ppt/slides/slide16.xml" Id="Rab3787c95af14de2" /><Relationship Type="http://schemas.openxmlformats.org/officeDocument/2006/relationships/slide" Target="/ppt/slides/slide17.xml" Id="R03151461eb894639" /><Relationship Type="http://schemas.openxmlformats.org/officeDocument/2006/relationships/slide" Target="/ppt/slides/slide18.xml" Id="Re10ff362b5d54aaa" /><Relationship Type="http://schemas.openxmlformats.org/officeDocument/2006/relationships/slide" Target="/ppt/slides/slide19.xml" Id="R0191def9ed4345b2" /><Relationship Type="http://schemas.openxmlformats.org/officeDocument/2006/relationships/slide" Target="/ppt/slides/slide20.xml" Id="Rff96e38a1ba74e1b" /><Relationship Type="http://schemas.openxmlformats.org/officeDocument/2006/relationships/slide" Target="/ppt/slides/slide21.xml" Id="R2c91dd9770cf47ba" /><Relationship Type="http://schemas.openxmlformats.org/officeDocument/2006/relationships/slide" Target="/ppt/slides/slide22.xml" Id="Rf8f4e54dc9ba4696" /><Relationship Type="http://schemas.openxmlformats.org/officeDocument/2006/relationships/slide" Target="/ppt/slides/slide23.xml" Id="R0106bb82c71343e4" /><Relationship Type="http://schemas.openxmlformats.org/officeDocument/2006/relationships/slide" Target="/ppt/slides/slide24.xml" Id="R82526775f4174e04" /><Relationship Type="http://schemas.openxmlformats.org/officeDocument/2006/relationships/slide" Target="/ppt/slides/slide25.xml" Id="R98963826a5a942d6" /><Relationship Type="http://schemas.openxmlformats.org/officeDocument/2006/relationships/slide" Target="/ppt/slides/slide26.xml" Id="Rebfa754af1254f04" /><Relationship Type="http://schemas.openxmlformats.org/officeDocument/2006/relationships/slide" Target="/ppt/slides/slide27.xml" Id="R034f46837cdb4b68" /><Relationship Type="http://schemas.openxmlformats.org/officeDocument/2006/relationships/slide" Target="/ppt/slides/slide28.xml" Id="R3cf52aa61504416e" /><Relationship Type="http://schemas.openxmlformats.org/officeDocument/2006/relationships/slide" Target="/ppt/slides/slide29.xml" Id="R2f8c317f53db4d93" /><Relationship Type="http://schemas.openxmlformats.org/officeDocument/2006/relationships/slide" Target="/ppt/slides/slide30.xml" Id="R5a27810a64774745" /><Relationship Type="http://schemas.openxmlformats.org/officeDocument/2006/relationships/slide" Target="/ppt/slides/slide31.xml" Id="R4821324ca443456c" /><Relationship Type="http://schemas.openxmlformats.org/officeDocument/2006/relationships/slide" Target="/ppt/slides/slide32.xml" Id="R7eb6cc3544d74471" /><Relationship Type="http://schemas.openxmlformats.org/officeDocument/2006/relationships/slide" Target="/ppt/slides/slide33.xml" Id="R77a3a20f985b427f" /><Relationship Type="http://schemas.openxmlformats.org/officeDocument/2006/relationships/slide" Target="/ppt/slides/slide34.xml" Id="R6ca227291e5e4fd5" /><Relationship Type="http://schemas.openxmlformats.org/officeDocument/2006/relationships/slide" Target="/ppt/slides/slide35.xml" Id="R3419556c24c84a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836b64a01343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39061e11374d79" /><Relationship Type="http://schemas.openxmlformats.org/officeDocument/2006/relationships/notesMaster" Target="/ppt/notesMasters/notesMaster1.xml" Id="R51aa7a2edda146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88eb2da1fc473b" /><Relationship Type="http://schemas.openxmlformats.org/officeDocument/2006/relationships/notesMaster" Target="/ppt/notesMasters/notesMaster1.xml" Id="R37d7d5443b9347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95274616914b02" /><Relationship Type="http://schemas.openxmlformats.org/officeDocument/2006/relationships/notesMaster" Target="/ppt/notesMasters/notesMaster1.xml" Id="Ra3bc573747ab4d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7e14606c42424a" /><Relationship Type="http://schemas.openxmlformats.org/officeDocument/2006/relationships/notesMaster" Target="/ppt/notesMasters/notesMaster1.xml" Id="Rd29efc2e4c4a4d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14516111f74228" /><Relationship Type="http://schemas.openxmlformats.org/officeDocument/2006/relationships/notesMaster" Target="/ppt/notesMasters/notesMaster1.xml" Id="Re7de7c4746b84d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caad5a95f84eb5" /><Relationship Type="http://schemas.openxmlformats.org/officeDocument/2006/relationships/notesMaster" Target="/ppt/notesMasters/notesMaster1.xml" Id="R7b24d50d8b2f4f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7842d5a9a2483a" /><Relationship Type="http://schemas.openxmlformats.org/officeDocument/2006/relationships/notesMaster" Target="/ppt/notesMasters/notesMaster1.xml" Id="R77b9f3a81fa640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0929fad2d64626" /><Relationship Type="http://schemas.openxmlformats.org/officeDocument/2006/relationships/notesMaster" Target="/ppt/notesMasters/notesMaster1.xml" Id="Ra6703249236943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bbb05be78941b3" /><Relationship Type="http://schemas.openxmlformats.org/officeDocument/2006/relationships/notesMaster" Target="/ppt/notesMasters/notesMaster1.xml" Id="R852c5823396943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ee2ed7717a4a4b" /><Relationship Type="http://schemas.openxmlformats.org/officeDocument/2006/relationships/notesMaster" Target="/ppt/notesMasters/notesMaster1.xml" Id="Rb273f1052ea643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1277c82a42443d" /><Relationship Type="http://schemas.openxmlformats.org/officeDocument/2006/relationships/notesMaster" Target="/ppt/notesMasters/notesMaster1.xml" Id="R1a36e65df64a48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43bdd73dcf42f4" /><Relationship Type="http://schemas.openxmlformats.org/officeDocument/2006/relationships/notesMaster" Target="/ppt/notesMasters/notesMaster1.xml" Id="R95f2ebbb1fa345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7a0e6666b04d26" /><Relationship Type="http://schemas.openxmlformats.org/officeDocument/2006/relationships/notesMaster" Target="/ppt/notesMasters/notesMaster1.xml" Id="R8d9b97ac688649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03e2c035564c77" /><Relationship Type="http://schemas.openxmlformats.org/officeDocument/2006/relationships/notesMaster" Target="/ppt/notesMasters/notesMaster1.xml" Id="R607efc719a0c4c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3b503ced37a411e" /><Relationship Type="http://schemas.openxmlformats.org/officeDocument/2006/relationships/notesMaster" Target="/ppt/notesMasters/notesMaster1.xml" Id="Rd7fe90d2a5f84a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6515066bce94c5b" /><Relationship Type="http://schemas.openxmlformats.org/officeDocument/2006/relationships/notesMaster" Target="/ppt/notesMasters/notesMaster1.xml" Id="R00cab4afab1f47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dcce17881444939" /><Relationship Type="http://schemas.openxmlformats.org/officeDocument/2006/relationships/notesMaster" Target="/ppt/notesMasters/notesMaster1.xml" Id="Rae7ccaf1ee434ba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11797514d0c47ce" /><Relationship Type="http://schemas.openxmlformats.org/officeDocument/2006/relationships/notesMaster" Target="/ppt/notesMasters/notesMaster1.xml" Id="R9f743f2582b74dd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2668bac7eb4440" /><Relationship Type="http://schemas.openxmlformats.org/officeDocument/2006/relationships/notesMaster" Target="/ppt/notesMasters/notesMaster1.xml" Id="R7ff02ebae601481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c76858da4a74997" /><Relationship Type="http://schemas.openxmlformats.org/officeDocument/2006/relationships/notesMaster" Target="/ppt/notesMasters/notesMaster1.xml" Id="R9c9164bd140f484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8cb48d9c07f4f1b" /><Relationship Type="http://schemas.openxmlformats.org/officeDocument/2006/relationships/notesMaster" Target="/ppt/notesMasters/notesMaster1.xml" Id="Ra0f68a0e1bca4c8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7891ff08db74a9e" /><Relationship Type="http://schemas.openxmlformats.org/officeDocument/2006/relationships/notesMaster" Target="/ppt/notesMasters/notesMaster1.xml" Id="Rc6d44ed02b634e8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6a834a519ab434d" /><Relationship Type="http://schemas.openxmlformats.org/officeDocument/2006/relationships/notesMaster" Target="/ppt/notesMasters/notesMaster1.xml" Id="R8bfadbf2b369451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c847481460946c4" /><Relationship Type="http://schemas.openxmlformats.org/officeDocument/2006/relationships/notesMaster" Target="/ppt/notesMasters/notesMaster1.xml" Id="R64622459fc4c48d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1fb3659f32544d9" /><Relationship Type="http://schemas.openxmlformats.org/officeDocument/2006/relationships/notesMaster" Target="/ppt/notesMasters/notesMaster1.xml" Id="R91a968a878e94eb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08fff17a7d04621" /><Relationship Type="http://schemas.openxmlformats.org/officeDocument/2006/relationships/notesMaster" Target="/ppt/notesMasters/notesMaster1.xml" Id="R3fb202cccafa480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766288470054f53" /><Relationship Type="http://schemas.openxmlformats.org/officeDocument/2006/relationships/notesMaster" Target="/ppt/notesMasters/notesMaster1.xml" Id="R6f3723bf23ea41c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282ef10b4474be8" /><Relationship Type="http://schemas.openxmlformats.org/officeDocument/2006/relationships/notesMaster" Target="/ppt/notesMasters/notesMaster1.xml" Id="R80297ad078b84b0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cf95099f7824e01" /><Relationship Type="http://schemas.openxmlformats.org/officeDocument/2006/relationships/notesMaster" Target="/ppt/notesMasters/notesMaster1.xml" Id="R981503f1e940420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dbcbcd97d754db5" /><Relationship Type="http://schemas.openxmlformats.org/officeDocument/2006/relationships/notesMaster" Target="/ppt/notesMasters/notesMaster1.xml" Id="R31b59bd106be4fb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671110fb7ff43d5" /><Relationship Type="http://schemas.openxmlformats.org/officeDocument/2006/relationships/notesMaster" Target="/ppt/notesMasters/notesMaster1.xml" Id="R0090b69b057b437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1773492bc1e47bd" /><Relationship Type="http://schemas.openxmlformats.org/officeDocument/2006/relationships/notesMaster" Target="/ppt/notesMasters/notesMaster1.xml" Id="R783ee0d6c550416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7a349414d8b4a63" /><Relationship Type="http://schemas.openxmlformats.org/officeDocument/2006/relationships/notesMaster" Target="/ppt/notesMasters/notesMaster1.xml" Id="Rc4c4f74f9a574b6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b10d21fedad4827" /><Relationship Type="http://schemas.openxmlformats.org/officeDocument/2006/relationships/notesMaster" Target="/ppt/notesMasters/notesMaster1.xml" Id="R02dcef49f66e472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5ac4bc36f854321" /><Relationship Type="http://schemas.openxmlformats.org/officeDocument/2006/relationships/notesMaster" Target="/ppt/notesMasters/notesMaster1.xml" Id="Rfaa9510b71d94b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ChessLens projesini AI engineer yetkinliklerini öğrenmek için nasıl kullanacağımızı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İş ilanlarında rol isimleri değişebilir. Bu sunumda AI engineer'i model bilgisi ile üretim yazılımı arasında köprü kuran mühendis olarak ele alıyoruz.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 örnekleri: https://www.indeed.com/viewjob?jk=457121afc1405134 ve https://www.bytegurus.io/careers/junior-machine-learning-engineer. Bu slayt tek bir ilana değil, ortak beklentilerin sentezine dayanır.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Yetkinlikleri dört başlıkta gruplayarak öğrenme sırasını görünür hale getiriyoruz. Her bölüm ChessLens’te çalışan bir artefaktla sonuçlanacak.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akışta LLM oyun kurallarını belirlemiyor. python-chess ve Stockfish güvenilir kaynak; LLM açıklama katmanı.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 ders küçük ama ölçülebilir bir kazanımla kapanacak. Bir konuyu açıklayamıyor veya hata ayıklayamıyorsak sonraki konuya geçmeyeceğiz.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bölümün sonunda öğrenme hedefi: rolü, yetkinlikleri ve ChessLens’in bunları nasıl kanıtladığını anlatabilmek.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 Python syntax'ını ezberletmez. Python ve FastAPI'nin AI ürünündeki sorumluluklarını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eğitimde hedef, syntax ezberi değil, kod okuma, değiştirme ve hata ayıklama yeteneğidir.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İstek akışını katmanlara ayırmak, hata ayıklama ve code review için zihinsel model sağlar.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GameService burada microservice değildir. Aynı Python uygulamasındaki domain sınıfıdır.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slayt, AI tarafından yazılmış backend kodunu okurken kullanılacak pratik yöntemdir: input, state transition, external analysis,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contract, frontend ile backend arasındaki anlaşmadır. Kritik alanların kaynağı backend'dir.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2, Python syntax'ından çok servis sınırları, request lifecycle ve test edilebilirlik üzerine kuruludur.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ChessLens bileşenlerinin farklı satranç gösterimlerini neden kullandığını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FEN, SAN, UCI ve PGN birbirinin alternatifi değildir. Her biri farklı tüketici için seçilir.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FEN, pozisyon snapshot'ıdır. Review geçmişi için SAN hamle listesi veya PGN ayrıca saklanmalıdır.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SAN bağlama bağlıdır; iki at aynı kareye gidebiliyorsa Nbf3 veya Ngf3 gibi ayrıntı eklenir. UCI makine için daha kesindir.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ChessLens'in canlı oyununda FEN yeterlidir. Geçmiş hamle incelemesi için PGN veya SAN listesi gerekir.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sözleşme, frontend, domain, engine ve LLM katmanlarını birbirinden ayırır.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bölümdeki ana yetkinlik, satranç notasyonunu ezberlemek değil, veri sözleşmesini doğru katmana bağlamaktır.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 bir hamle isteğinin nasıl doğrulandığını ve sistemin hata sırasında state'i korumasını inceliyoruz.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422 istek şeması hatasıdır. 400 ise istek okunabilir olduğu halde domain kuralına uymaz.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mutation, mevcut nesnenin değişmesidir. Geçersiz hamle state'i değiştirmemelidir.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Hata kodu, sorunun kaynağını ve istemcinin ne yapması gerektiğini anlatır.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 test hızlı ve izole olmalıdır. Harici motoru test double ile değiştirerek API davranışını ölçeriz.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Testin amacı satırları çalıştırmak değil, sistem davranışı hakkında güvenilir bir iddia kurmaktır.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4'ün hedefi, test ve hata yönetimini AI ürününün güvenilirlik temeli olarak anlatabilmektir.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 Stockfish'i yeniden yazmıyoruz; Python servisinin UCI üzerinden Stockfish sürecini güvenilir biçimde yönetmesini öğreniyoruz.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Araçların görevini ayırmak, hallucination ve pedagojik kalite riskini sınırlar.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Stockfish ayrı bir işletim sistemi sürecidir. Adapter bu sürecin yaşam döngüsünü ve çıktısını yönetir.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Adapter pattern, uygulama kodunu harici süreç API'sine bağlamadan korur. Testte fake engine bu sınırı taklit eder.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Stockfish skorları mate veya centipawn olabilir. Move analyzer önce kind alanını kontrol eder.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Harici süreçler güvenilir varsayılmaz. Availability, timeout, concurrency ve output validation birlikte düşünülür.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5, harici AI/ML aracını üretim servisine bağlama yetkinliğini görünür kılar.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81876b479b45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fbd834e2e843f0" /><Relationship Type="http://schemas.openxmlformats.org/officeDocument/2006/relationships/slideLayout" Target="/ppt/slideLayouts/slideLayout1.xml" Id="R8d45313bccd445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45313bccd445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d9dcf1a244da7" /><Relationship Type="http://schemas.openxmlformats.org/officeDocument/2006/relationships/notesSlide" Target="/ppt/notesSlides/notesSlide1.xml" Id="Re0e656c401ff4c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83504898b4c14" /><Relationship Type="http://schemas.openxmlformats.org/officeDocument/2006/relationships/notesSlide" Target="/ppt/notesSlides/notesSlide2.xml" Id="Rd962886bb01440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9d8f4750d4e38" /><Relationship Type="http://schemas.openxmlformats.org/officeDocument/2006/relationships/notesSlide" Target="/ppt/notesSlides/notesSlide3.xml" Id="Redd939c01a014d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44df8c963416c" /><Relationship Type="http://schemas.openxmlformats.org/officeDocument/2006/relationships/notesSlide" Target="/ppt/notesSlides/notesSlide4.xml" Id="R03c6044e007d4c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dd61cfb9845ed" /><Relationship Type="http://schemas.openxmlformats.org/officeDocument/2006/relationships/notesSlide" Target="/ppt/notesSlides/notesSlide5.xml" Id="R6e3a30ca8bf64f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3a253deb04fbe" /><Relationship Type="http://schemas.openxmlformats.org/officeDocument/2006/relationships/notesSlide" Target="/ppt/notesSlides/notesSlide6.xml" Id="Rb60e56e5383542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8d16e432a4580" /><Relationship Type="http://schemas.openxmlformats.org/officeDocument/2006/relationships/notesSlide" Target="/ppt/notesSlides/notesSlide7.xml" Id="R8185490a944148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e12d811964292" /><Relationship Type="http://schemas.openxmlformats.org/officeDocument/2006/relationships/notesSlide" Target="/ppt/notesSlides/notesSlide8.xml" Id="R76ba79bc51544b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31bc33511430c" /><Relationship Type="http://schemas.openxmlformats.org/officeDocument/2006/relationships/notesSlide" Target="/ppt/notesSlides/notesSlide9.xml" Id="Rf621005bd23848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32c9fbe8e48ab" /><Relationship Type="http://schemas.openxmlformats.org/officeDocument/2006/relationships/notesSlide" Target="/ppt/notesSlides/notesSlide10.xml" Id="R4f8edbc2329b42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77d1dc3c944fe" /><Relationship Type="http://schemas.openxmlformats.org/officeDocument/2006/relationships/notesSlide" Target="/ppt/notesSlides/notesSlide11.xml" Id="R8daffc035dab46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0c16da4fa4d24" /><Relationship Type="http://schemas.openxmlformats.org/officeDocument/2006/relationships/notesSlide" Target="/ppt/notesSlides/notesSlide12.xml" Id="R8f186fdd27c540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f7fe5cec64fb0" /><Relationship Type="http://schemas.openxmlformats.org/officeDocument/2006/relationships/notesSlide" Target="/ppt/notesSlides/notesSlide13.xml" Id="R4cbe120d948d42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f34ab74ec4bc1" /><Relationship Type="http://schemas.openxmlformats.org/officeDocument/2006/relationships/notesSlide" Target="/ppt/notesSlides/notesSlide14.xml" Id="Rca642ea76c1e4a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776f2093d474e" /><Relationship Type="http://schemas.openxmlformats.org/officeDocument/2006/relationships/notesSlide" Target="/ppt/notesSlides/notesSlide15.xml" Id="Rdee6bcd3fb2042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496d8ed2f4d37" /><Relationship Type="http://schemas.openxmlformats.org/officeDocument/2006/relationships/notesSlide" Target="/ppt/notesSlides/notesSlide16.xml" Id="R9c60fe60b45f48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81f2dd7e041c8" /><Relationship Type="http://schemas.openxmlformats.org/officeDocument/2006/relationships/notesSlide" Target="/ppt/notesSlides/notesSlide17.xml" Id="R0b9efcc79900454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21a5b3163429a" /><Relationship Type="http://schemas.openxmlformats.org/officeDocument/2006/relationships/notesSlide" Target="/ppt/notesSlides/notesSlide18.xml" Id="Rf0aa94ebe9a846c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99e1aed2a4cc7" /><Relationship Type="http://schemas.openxmlformats.org/officeDocument/2006/relationships/notesSlide" Target="/ppt/notesSlides/notesSlide19.xml" Id="Rf2b6463ba0e84bf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2158e59924dd6" /><Relationship Type="http://schemas.openxmlformats.org/officeDocument/2006/relationships/notesSlide" Target="/ppt/notesSlides/notesSlide20.xml" Id="R810c9d7e2f7e409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c32201fab4ed7" /><Relationship Type="http://schemas.openxmlformats.org/officeDocument/2006/relationships/notesSlide" Target="/ppt/notesSlides/notesSlide21.xml" Id="R5c6209a0495a46c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89be24e9c4ef2" /><Relationship Type="http://schemas.openxmlformats.org/officeDocument/2006/relationships/notesSlide" Target="/ppt/notesSlides/notesSlide22.xml" Id="Ra73fb102349f49f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9da983b2d4f92" /><Relationship Type="http://schemas.openxmlformats.org/officeDocument/2006/relationships/notesSlide" Target="/ppt/notesSlides/notesSlide23.xml" Id="Rf4fa20e5ed1f432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9633bf5124512" /><Relationship Type="http://schemas.openxmlformats.org/officeDocument/2006/relationships/notesSlide" Target="/ppt/notesSlides/notesSlide24.xml" Id="Rff47e00bf3254a2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13fe8e4fa4263" /><Relationship Type="http://schemas.openxmlformats.org/officeDocument/2006/relationships/notesSlide" Target="/ppt/notesSlides/notesSlide25.xml" Id="Rd596e86d31da46c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8a78d93f940a6" /><Relationship Type="http://schemas.openxmlformats.org/officeDocument/2006/relationships/notesSlide" Target="/ppt/notesSlides/notesSlide26.xml" Id="R28851370acc04a5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d5a48f1274fe0" /><Relationship Type="http://schemas.openxmlformats.org/officeDocument/2006/relationships/notesSlide" Target="/ppt/notesSlides/notesSlide27.xml" Id="R186f3f65b8ac4b4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9c3dc25014615" /><Relationship Type="http://schemas.openxmlformats.org/officeDocument/2006/relationships/notesSlide" Target="/ppt/notesSlides/notesSlide28.xml" Id="R199fe992974f421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f471e25594781" /><Relationship Type="http://schemas.openxmlformats.org/officeDocument/2006/relationships/notesSlide" Target="/ppt/notesSlides/notesSlide29.xml" Id="R4453b2f63e52460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b4647cad24329" /><Relationship Type="http://schemas.openxmlformats.org/officeDocument/2006/relationships/notesSlide" Target="/ppt/notesSlides/notesSlide30.xml" Id="R353ae2158ebf44b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01f43a6ba4e63" /><Relationship Type="http://schemas.openxmlformats.org/officeDocument/2006/relationships/notesSlide" Target="/ppt/notesSlides/notesSlide31.xml" Id="Rf709bdfd090a4e1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0fb8c29a847f4" /><Relationship Type="http://schemas.openxmlformats.org/officeDocument/2006/relationships/notesSlide" Target="/ppt/notesSlides/notesSlide32.xml" Id="R789acbf67250483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0bc32f9544540" /><Relationship Type="http://schemas.openxmlformats.org/officeDocument/2006/relationships/notesSlide" Target="/ppt/notesSlides/notesSlide33.xml" Id="R6d645c9cfd2a4e1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0f19c549e40f2" /><Relationship Type="http://schemas.openxmlformats.org/officeDocument/2006/relationships/notesSlide" Target="/ppt/notesSlides/notesSlide34.xml" Id="R4f6a0e0466f04c5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b79c4235b43f5" /><Relationship Type="http://schemas.openxmlformats.org/officeDocument/2006/relationships/notesSlide" Target="/ppt/notesSlides/notesSlide35.xml" Id="Rb97c95089eeb40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CA742-DAD3-4FED-88B6-5104A26F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öğrenme haritası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FC86F-CDB6-41AC-AB80-6448DB8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üzerinden junior+ seviyeye giden yol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7CE3F-995B-42E9-8366-D211E71E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· Rol, yetkinlikler ve çalışma yöntemi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39BEA-82DC-4712-8A19-327BE0FE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23950"/>
            <a:ext cx="114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14343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7EBDC-F1E1-4F71-AAD3-700A7B95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E375E-87EF-4900-87C8-AC7B6377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 rolü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35EA5-E594-44D1-8C66-0836CB9B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Modeli veya AI aracını ürüne bağlar, doğrular ve çalışır halde tutar.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8A3F5-5F53-4AC0-A012-2BAA9A9C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Sadece prompt yazmak değildir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Veri, API, test, maliyet, gecikme ve güvenilirlik de işin parçasıdır.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8A799-61A7-4598-A80F-A8605D74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ChessLens’te hedefimiz: Stockfish doğruluğunu, LLM açıklamasını ve sağlam bir backend’i tek üründe birleştirmek.</a:t>
            </a:r>
          </a:p>
        </p:txBody>
      </p:sp>
    </p:spTree>
    <p:extLst>
      <p:ext uri="{BB962C8B-B14F-4D97-AF65-F5344CB8AC3E}">
        <p14:creationId xmlns:p14="http://schemas.microsoft.com/office/powerpoint/2010/main" val="155594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1B3D8-BC43-4898-A4B9-BA951A7E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C420A-1644-48D0-A896-78CD8E3D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Junior+ beklentileri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B480A-4EBF-4FC1-AA96-F96F9C7D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Temel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Python ve temiz kod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Git ve code review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ve debugging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REST API / FastAPI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SQL ve veri hazırlama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Docker ve CI temelleri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BB6F8-D892-4814-8615-5470FA85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AI’ye özgü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Model çıktısını değerlendirme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Structured output doğrulama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Prompt ve maliyet kontrolü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Hallucination sınırlandırma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Latency ve reliability ölçümü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Teknik kararları anlatabilme</a:t>
            </a:r>
          </a:p>
        </p:txBody>
      </p:sp>
    </p:spTree>
    <p:extLst>
      <p:ext uri="{BB962C8B-B14F-4D97-AF65-F5344CB8AC3E}">
        <p14:creationId xmlns:p14="http://schemas.microsoft.com/office/powerpoint/2010/main" val="249073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C1D3C-4ADC-49CB-9CA2-2EDCF39A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BCB83-8428-49CC-B591-42B44CE3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Yetkinlik haritası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B4A6A-AB49-4AB0-B989-386E00D5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Yazılım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B4D6E-C8B4-4114-965E-37AE017C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· Git · test · debugging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A3A5F-9887-4C93-B223-1135C700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Servis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0EA63-20C9-4A9B-9B3A-B40940BD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987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· HTTP · API contract · Docker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8DC9A-186A-498A-9270-3DBD89BF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B06AA-FF4D-4F69-BEAF-1D39D168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Inference · prompt · structured output ·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0FC42-6B23-47A8-9287-16D829AA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Ürün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6447A-B3F0-4D98-B5CC-9D90A185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problemi · açıklanabilirlik · ölçüm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4A9BB-4CF0-426A-89EA-4BF551EB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Junior+ = bu parçaları tek tek bilmekten çok, birlikte güvenilir bir akış kurabilmek.</a:t>
            </a:r>
          </a:p>
        </p:txBody>
      </p:sp>
    </p:spTree>
    <p:extLst>
      <p:ext uri="{BB962C8B-B14F-4D97-AF65-F5344CB8AC3E}">
        <p14:creationId xmlns:p14="http://schemas.microsoft.com/office/powerpoint/2010/main" val="1251960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636AA-7268-48BB-8A77-6EE30461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28056-3CB6-4624-AC21-B1E4D598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bir öğrenme laboratuvarı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D01F4-03FE-4CDF-96A1-C6716F7E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091E2-A7B3-42AA-A670-DFAB3C6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hamle niyeti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E3D89-F57E-43C1-A4E4-8DF44321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79B59-EFBF-440E-9091-01E577E9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47B3A-634F-4BC2-B9DE-790BAE44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API ve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1B99C-7AF9-4EFA-8F77-8C3E6F91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35FBF-9637-4104-BFE3-FB9FDC47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python-chess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BA3C9-32FA-4188-B6C5-D4489A74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kural doğruluğu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D9B30-C9C4-45DF-81E1-AD18D9D7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750DE-476D-44D9-8868-3582B799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FA502-B1AB-490D-A501-E475F7A7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pozisyon analizi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A3223-C67D-4A83-8686-E41F6796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BE6EA-CAD1-407A-9D87-AEBAEC60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30E13-15FF-49BC-BCF2-76C51B1C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anlaşılır açıklama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28D6B-0252-4292-8FC6-3DA7C32A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 bir iş becerisi öğretiyor: API tasarımı, domain logic, harici araç entegrasyonu, AI grounding ve evaluation.</a:t>
            </a:r>
          </a:p>
        </p:txBody>
      </p:sp>
    </p:spTree>
    <p:extLst>
      <p:ext uri="{BB962C8B-B14F-4D97-AF65-F5344CB8AC3E}">
        <p14:creationId xmlns:p14="http://schemas.microsoft.com/office/powerpoint/2010/main" val="2013225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7CB4A-FEA7-4AC9-9AD7-8C737B7E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271DB-EEAB-4FB4-929C-ED7501F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 dersin çalışma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C8DA0-B827-4E77-8096-DDFC0C2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 · Kavramı gerçek problem üzerinden anla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B880A-CD71-429D-8CD4-EBFEB697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 · Koddaki veri akışını takip 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B20DB-8AAA-4BCE-BD1E-643F44C1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 · Test yaz ve hata senaryosunu gör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64F6B-AA34-4E6D-B53B-20D90A09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 · Code review ve mülakat anlatımı yap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FC020-D4D3-4CB3-B11E-687B840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Amaç: kodu ezberlemek değil, AI’nin ürettiği kodu kontrol edebilmek.</a:t>
            </a:r>
          </a:p>
        </p:txBody>
      </p:sp>
    </p:spTree>
    <p:extLst>
      <p:ext uri="{BB962C8B-B14F-4D97-AF65-F5344CB8AC3E}">
        <p14:creationId xmlns:p14="http://schemas.microsoft.com/office/powerpoint/2010/main" val="399199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258CB-E6AD-4ED9-A61F-157D2A5A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23C81-5BEC-4B2D-8AB7-C5FCA952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sonunda gösterebileceğin şey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64C81-F918-4035-9528-DABEB56E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990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“ChessLens’te server-authoritative oyun state’i kurdum. Stockfish’i analiz otoritesi, LLM’i açıklama katmanı olarak ayırdım. API sözleşmelerini, testleri ve failure fallback’lerini tasarladım.”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7BE5C-A7FC-4F28-AA19-445991B1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Sıradaki bölüm: Python, FastAPI ve GameService’in kod akışı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527F8-FC87-4D0C-B232-92932E11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tamamlandı</a:t>
            </a:r>
          </a:p>
        </p:txBody>
      </p:sp>
    </p:spTree>
    <p:extLst>
      <p:ext uri="{BB962C8B-B14F-4D97-AF65-F5344CB8AC3E}">
        <p14:creationId xmlns:p14="http://schemas.microsoft.com/office/powerpoint/2010/main" val="17551923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BB83D-922E-497B-81EC-19117413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C1D13-A9B1-450C-88EB-B744ECD6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Kodun görevi: güvenilir bir AI akışını taşıyabilmek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EA8D6-E555-4E51-8A78-3866A0C1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2 · Dil, servis ve veri akışı</a:t>
            </a:r>
          </a:p>
        </p:txBody>
      </p:sp>
    </p:spTree>
    <p:extLst>
      <p:ext uri="{BB962C8B-B14F-4D97-AF65-F5344CB8AC3E}">
        <p14:creationId xmlns:p14="http://schemas.microsoft.com/office/powerpoint/2010/main" val="568097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64416-5C2F-456F-BE66-6046CEF3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C1AE9-BEEF-4298-8FA4-CE2118F1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Python’da bilmen gereken seviye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51E18-6060-4EEC-8663-E21CEB5C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Ezberlemek gerekmeyenler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kütüphanenin tüm API’si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syntax ayrıntısı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Boilerplate kod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FastAPI seçeneği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91A2F-187F-410E-8B31-0492E350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Kontrol etmen gerekenler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Veri hangi tipte?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Fonksiyon ne üretiyor?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State nerede değişiyor?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Hata nasıl taşınıyor?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nerede yazılır?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2C81B-11D3-4A50-AB82-820AD49E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AI kod üretebilir; mühendis kodun davranışını açıklayabilmelidir.</a:t>
            </a:r>
          </a:p>
        </p:txBody>
      </p:sp>
    </p:spTree>
    <p:extLst>
      <p:ext uri="{BB962C8B-B14F-4D97-AF65-F5344CB8AC3E}">
        <p14:creationId xmlns:p14="http://schemas.microsoft.com/office/powerpoint/2010/main" val="2000810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9CD0F-4641-41CF-9279-F75A106C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E122B-3CB9-4FF7-A2BD-8DD45EA9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hamle isteğinin yaşam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6B937-6AA0-4935-923B-FC5D213D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İstemci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F156A-8CA3-4D52-AAC0-BC549DEE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POST /api/games/{id}/moves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6BAC0-8FBA-4482-95DB-5D362D22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Pydantic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BC509-3896-4DAC-9E07-E9C74311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alanlarını ve tiplerini doğrular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12893-0C7C-43BF-BE3A-8AFCC6E3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C1B28-7123-413D-A5E7-88263BE0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 bulur, sıralamayı kontrol eder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A6571-549E-4D65-8AD0-E1E2A9E7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4E0BD-5222-4E48-8191-BF35749E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Hamleyi satranç kurallarına göre uygular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BE222-45D6-456A-8BA8-7D12C20C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6AAAA-88F8-427F-9E40-1A18F93E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Yeni pozisyonu değerlendirir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5CAED-F194-4AE4-8B75-B9027DE7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99194-4123-4D1A-AB15-7F57247E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00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State, analysis ve coach sonucunu döner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2FE48-10E9-4503-AAAC-2AF93FB8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katmanın tek bir anlaşılır görevi var.</a:t>
            </a:r>
          </a:p>
        </p:txBody>
      </p:sp>
    </p:spTree>
    <p:extLst>
      <p:ext uri="{BB962C8B-B14F-4D97-AF65-F5344CB8AC3E}">
        <p14:creationId xmlns:p14="http://schemas.microsoft.com/office/powerpoint/2010/main" val="1411687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1A44C-253B-43F2-8532-DE41E55E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86EFF-C76F-40BD-BA30-D450CF81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ve GameService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AFBD6-FA5D-4979-835A-0941E8A7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HTTP ve JSON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Route ve status code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Request validation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Oyun kaydını bulma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Harici servisi çağırma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98378-3682-426B-BCAD-D32090E7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Tahtayı tutma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Legal move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FEN üretme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SAN üretme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Mat, pat, draw durumu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BF5FC-F943-4390-A73C-968E83A4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Ayrımın sonucu: satranç kurallarını HTTP sunucusu olmadan test edebiliriz.</a:t>
            </a:r>
          </a:p>
        </p:txBody>
      </p:sp>
    </p:spTree>
    <p:extLst>
      <p:ext uri="{BB962C8B-B14F-4D97-AF65-F5344CB8AC3E}">
        <p14:creationId xmlns:p14="http://schemas.microsoft.com/office/powerpoint/2010/main" val="9147354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E55F6-13FF-4F35-9CB7-2575FB5F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3D6FE-4C49-4E05-8967-95BCB65C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Kod akışını okumak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4057A-091B-45BB-B935-DC09FFFD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state_before = record.game.state()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Oyunun gerçeğini backend’den 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E2D76-9E9C-4206-961E-90642B73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played = record.game.play_move(body.from_, body.to, body.promotion)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Hamleyi doğrula ve uygula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BE0E3-3108-424C-AC25-8D6025BC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after_analysis = await engine.analyze(record.game.board.copy(...))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Yeni pozisyonu analiz 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4B309-D3CB-4718-AC25-EA11B88C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 okurken her satırı değil, state’in nerede değiştiğini ve verinin hangi katmana gittiğini takip et.</a:t>
            </a:r>
          </a:p>
        </p:txBody>
      </p:sp>
    </p:spTree>
    <p:extLst>
      <p:ext uri="{BB962C8B-B14F-4D97-AF65-F5344CB8AC3E}">
        <p14:creationId xmlns:p14="http://schemas.microsoft.com/office/powerpoint/2010/main" val="9273300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2104C-59FD-4987-A5B0-BC4383FE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CD789-9C58-4323-899E-4263AE4D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API sözleşmesi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EB0CB-EB4B-4E38-AE85-A90EE757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4667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İstemci gönderir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"from": "e2",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"to": "e4",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"promotion": null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29CC6-9693-4830-9749-A789311B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667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Backend döner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"fen": "...",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"playedMove": {...},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"analysis": {...},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"coach": {...}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5A997-2248-4786-9CBE-48F62277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İstemci niyet gönderir; backend FEN, legality, score ve classification üretir.</a:t>
            </a:r>
          </a:p>
        </p:txBody>
      </p:sp>
    </p:spTree>
    <p:extLst>
      <p:ext uri="{BB962C8B-B14F-4D97-AF65-F5344CB8AC3E}">
        <p14:creationId xmlns:p14="http://schemas.microsoft.com/office/powerpoint/2010/main" val="5726272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AE239-62BE-4F31-965A-9ABEDF1A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CF905-5B40-4499-AB40-261B92CE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2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BE5A3-0EB3-40F8-B906-7C71EEA0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endpoint’i yalnızca çalıştırmayı değil, request’ten response’a veri akışını açıklamayı öğrendin.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BEABD-CF48-4814-939C-E21FB118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“Transport katmanını domain mantığından ayırdım; GameService’i dış bağımlılıklar olmadan unit test edebiliyorum.”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6C9CE-76FE-4048-B2FB-02F93272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FEN, SAN, UCI ve PGN veri sözleşmeleri</a:t>
            </a:r>
          </a:p>
        </p:txBody>
      </p:sp>
    </p:spTree>
    <p:extLst>
      <p:ext uri="{BB962C8B-B14F-4D97-AF65-F5344CB8AC3E}">
        <p14:creationId xmlns:p14="http://schemas.microsoft.com/office/powerpoint/2010/main" val="20187880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9D49D-619E-4A7C-9602-8CBFE19B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FEN, SAN, UCI ve PGN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0EEE7-8373-49A6-B146-DB8C1C5E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Aynı oyunun dört farklı veri dili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90401-7732-4486-ABB2-DDBC9A6B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3 · Pozisyon, hamle, motor ve geçmiş</a:t>
            </a:r>
          </a:p>
        </p:txBody>
      </p:sp>
    </p:spTree>
    <p:extLst>
      <p:ext uri="{BB962C8B-B14F-4D97-AF65-F5344CB8AC3E}">
        <p14:creationId xmlns:p14="http://schemas.microsoft.com/office/powerpoint/2010/main" val="10920952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31023-B25F-44BC-9E8E-0ABE181E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1A0ED-B3D5-47E0-A2A1-122737CA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Dört formatın dört görevi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F6C99-65C1-499F-90A4-FF06E5FF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D3C37-6C90-4AF8-8DFC-EC283FE8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Tahtanın anlık fotoğrafı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1B603-55E6-4FC1-BEE6-0A4FDA9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Stockfish’e pozisyon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64F93-1B3E-44DA-B4D5-D6BEFC30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41F7B-ADE8-4B1B-BC9D-5B809D10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1462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İnsanın okuduğu hamle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2E9A0-7B2D-426C-BA02-07A68FD4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UI ve coach açıklaması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52427-98E3-4E05-B7E5-CB8EB17E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92CCD-C199-4E40-BBBF-9C09CDE5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Motorların hamle dili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9FFEB-BF3A-462C-B39B-B4924F79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Stockfish ↔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F91B1-7E93-4CC9-B445-F1F05A5D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08C0D-8E5F-4BDC-9A4F-F70B8B70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1487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Oyunun geçmiş kaydı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6148D-3373-4E16-A3A7-E6C459BA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Review ve dışa aktarma</a:t>
            </a:r>
          </a:p>
        </p:txBody>
      </p:sp>
    </p:spTree>
    <p:extLst>
      <p:ext uri="{BB962C8B-B14F-4D97-AF65-F5344CB8AC3E}">
        <p14:creationId xmlns:p14="http://schemas.microsoft.com/office/powerpoint/2010/main" val="10862688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4EB716-4275-4ACC-AFB2-098AE99F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186F9-337F-4337-B04E-2C854B45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FEN: pozisyonun fotoğrafı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FD8DA-462A-4223-91C4-2A0B3052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09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rnbqkbnr/pppppppp/8/8/PPPPPPPP/RNBQKBNR w KQkq - 0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C544E-4B3B-4D2A-8977-FE112BE9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EB510-4BBB-495D-B8B5-B6815BF1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tahta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8. sıradan 1. sıraya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F6C45-26FF-407D-B5FB-A5D7E8EF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C330F-1FB9-41C3-A372-0E54E1CD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sıra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 veya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2017D-0FA3-4DC1-B43D-242BCC12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675DA-A4EB-4D7F-9301-FDF1E362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rok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KQkq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91D6E-AF03-4817-A732-BB9FD6AE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B137D-34FD-4F48-B268-6A4EE6A1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 passant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hedef kare veya 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55A32-CD30-418E-8DFD-14E099A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99C3E-6B24-4B3F-9BF3-ACC4914C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yarım hamle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draw kuralı için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24D1D-1A3A-4CFC-84C0-515CC97A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77D85-627C-4385-8F81-44AF98F3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no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tam hamle sayısı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D9E4D-AF14-4FF5-8707-AB14BCCB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FEN mevcut konumu söyler; hamle geçmişini söylemez.</a:t>
            </a:r>
          </a:p>
        </p:txBody>
      </p:sp>
    </p:spTree>
    <p:extLst>
      <p:ext uri="{BB962C8B-B14F-4D97-AF65-F5344CB8AC3E}">
        <p14:creationId xmlns:p14="http://schemas.microsoft.com/office/powerpoint/2010/main" val="9712467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22151-9C86-41C9-88C3-BEDBBD6E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DD994-8B99-49D4-99F6-104A4438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SAN ve UCI: Nf3 ile g1f3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526C8-865D-4738-B9C5-BCBA9477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Nf3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İnsan odaklıdır. Tahtayı ve bağlamı kullanır. Şah, mat, taş alma ve rok sembolleri taşıyabilir.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B4C33-1604-47F3-9479-109DFC11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UCI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g1f3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Makine odaklıdır. Başlangıç karesi, hedef karesi ve terfi harfi kullanır.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8B64B-23D3-484F-B7E5-33CA3648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Aynı hamle: SAN = Nf3 · UCI = g1f3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Stockfish UCI üretir; UI genellikle SAN gösterir.</a:t>
            </a:r>
          </a:p>
        </p:txBody>
      </p:sp>
    </p:spTree>
    <p:extLst>
      <p:ext uri="{BB962C8B-B14F-4D97-AF65-F5344CB8AC3E}">
        <p14:creationId xmlns:p14="http://schemas.microsoft.com/office/powerpoint/2010/main" val="13423307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CF340-AD7D-481F-9929-3F2C760D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2654E-19CF-4DB5-A8E3-6228AC1B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PGN: oyunun geçmişi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53481-FCB6-430B-98A4-A8A0122B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Şu an tahta nasıl?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bir snapshot.</a:t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Geçmişi tam olarak taşımaz.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B4022-85CB-4CAF-B218-779177AB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 buraya nasıl geldi?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 hamleleri, oyuncular, sonuç ve yorumlar.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0A91B-7287-4D49-AC90-0B84A380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Review özelliği için FEN’in yanında hamle geçmişini de saklamalıyız.</a:t>
            </a:r>
          </a:p>
        </p:txBody>
      </p:sp>
    </p:spTree>
    <p:extLst>
      <p:ext uri="{BB962C8B-B14F-4D97-AF65-F5344CB8AC3E}">
        <p14:creationId xmlns:p14="http://schemas.microsoft.com/office/powerpoint/2010/main" val="17117230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315AA-0A52-4447-81C1-457C2B91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C4E22-F87B-41F5-A4D2-1316EA75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veri sözleşmesi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E3113-ECB9-46A6-BED3-94C49F41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3474E-DFB0-4CD3-BC74-F5068C08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from/to/promotion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494E0-A3C3-4880-B04F-57BA9A3C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F536F-4C79-4476-98A8-55B58849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FF580-CA90-482C-A9C5-26083C55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legal + FEN + SAN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BC924-949E-4A45-B8F4-C43BFA03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CC82E-1A0F-47E3-A8BC-E56CC147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6A5D6-67AE-47F3-BFED-60DD2F18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UCI +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8D9F9-552A-4C26-92F9-34006FD1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132BD-4EF6-4B5F-A162-F3B3ED13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Coach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1C7CD-6E0A-4011-8D73-EB3984C5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insan dili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A552A-2F0E-4A44-B48E-078FF441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format doğru katmanda kullanılır; LLM hiçbir formatın doğruluk otoritesi değildir.</a:t>
            </a:r>
          </a:p>
        </p:txBody>
      </p:sp>
    </p:spTree>
    <p:extLst>
      <p:ext uri="{BB962C8B-B14F-4D97-AF65-F5344CB8AC3E}">
        <p14:creationId xmlns:p14="http://schemas.microsoft.com/office/powerpoint/2010/main" val="3354332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5493F-58BE-4865-8959-5FF87EA1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71092-751E-4256-84DD-C208CEE3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3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5D4F9-7A2B-480D-80D1-CCCA7095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 mevcut pozisyonu, PGN geçmişi, SAN insan dilini, UCI ise motor dilini temsil eder.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58C3F-EF37-4506-B7D2-1582DCF8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“Motor ile UI arasında UCI/SAN dönüşümü yapıyor, oyun snapshot’ı ile hamle geçmişini ayrı veri ihtiyaçları olarak ele alıyorum.”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BB30B-6852-4A6E-8ABD-728E4158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Hamle doğrulama, test ve hata senaryoları</a:t>
            </a:r>
          </a:p>
        </p:txBody>
      </p:sp>
    </p:spTree>
    <p:extLst>
      <p:ext uri="{BB962C8B-B14F-4D97-AF65-F5344CB8AC3E}">
        <p14:creationId xmlns:p14="http://schemas.microsoft.com/office/powerpoint/2010/main" val="9361923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13316-4163-4871-931D-31D2593F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CD4C7-23BC-4297-994D-62173FF0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Çalışan endpoint ile güvenilir servis arasındaki fark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4DD6E-CBED-4CFF-851E-7041A458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4 · Validation, state ve hata yönetimi</a:t>
            </a:r>
          </a:p>
        </p:txBody>
      </p:sp>
    </p:spTree>
    <p:extLst>
      <p:ext uri="{BB962C8B-B14F-4D97-AF65-F5344CB8AC3E}">
        <p14:creationId xmlns:p14="http://schemas.microsoft.com/office/powerpoint/2010/main" val="3369005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103A6-6CF9-4DB9-9BA4-833E8D11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9C12B-0B95-4E85-B11E-FD6308B1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İki farklı doğrulama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73AA0-5494-488E-9BFB-E071AAA8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İstek doğrulama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alanları var mı?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from/to doğru tipte mi?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playerColor geçerli mi?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Pydantic → HTTP 422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D999B-54FB-4B94-803D-070D48B6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Domain doğrulama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Hamle bu pozisyonda yasal mı?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Kendi şahını açıkta bırakıyor mu?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 bitmiş mi?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 → HTTP 400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CD544-7C96-4F05-919A-DB29A88F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Format doğru olabilir; hamle yine de satranç açısından yasadışı olabilir.</a:t>
            </a:r>
          </a:p>
        </p:txBody>
      </p:sp>
    </p:spTree>
    <p:extLst>
      <p:ext uri="{BB962C8B-B14F-4D97-AF65-F5344CB8AC3E}">
        <p14:creationId xmlns:p14="http://schemas.microsoft.com/office/powerpoint/2010/main" val="14881377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04AD1-CA1A-404C-A97D-3BE3A17C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EDA15-6916-4528-92F6-918BD28F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 değişikliğinde güvenli sıra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986DB-277E-4AF7-9CC2-0F9C55F5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 · Hamle nesnesini oluştur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BD197-A500-452A-A989-5718C7F0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 · Legal moves içinde doğrula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43D5C-31DA-434A-90D5-6B0D1FD2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 · SAN’ı eski tahtada hesapla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FAF32-B635-402D-8EFF-EC453D59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 · Hamleyi uygula ve yeni state üret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D9125-82DA-486F-A948-6DA5E770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Doğrulama bitmeden mutation yapılmaz.</a:t>
            </a:r>
          </a:p>
        </p:txBody>
      </p:sp>
    </p:spTree>
    <p:extLst>
      <p:ext uri="{BB962C8B-B14F-4D97-AF65-F5344CB8AC3E}">
        <p14:creationId xmlns:p14="http://schemas.microsoft.com/office/powerpoint/2010/main" val="1015195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10954-7079-4AB1-AD37-1E6455AA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C96C5-DA6D-45A5-866F-0785386A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Hata kodları rastgele seçilmez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22296-244D-4ECB-982F-5E3E85CA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3D9DA-840E-434F-ADBD-E133BC68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668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İstek şekli yanlış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DD13E-8D6D-46AE-9F59-ABAC6D22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Pydantic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31ED7-E94F-43C1-A695-70739B1C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99EF8-8C95-406F-BD41-D696530D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907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yasadışı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8F29F-49AC-484F-AB11-21968DA8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907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019FE-9666-4A36-8831-4F1B3637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AB312-5FBB-4BF3-85F5-84DF647C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146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 bulunamadı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54934-FF19-46DA-AF68-13078258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146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FastAPI 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833D4-3772-4401-BB4E-90146727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3277C-E39C-4926-8DCE-96DCBC72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385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Oyuncunun sırası değil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86089-19FD-49D0-9155-0FD40032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385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GameRecord/API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2E0F6-B4C2-41B8-9FC1-FAFA3C8E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1DA91-49CC-4537-8933-7A7AA546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624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yok veya erişilemiyor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86D27-FBFC-4C76-9239-8C249915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Engine adapter</a:t>
            </a:r>
          </a:p>
        </p:txBody>
      </p:sp>
    </p:spTree>
    <p:extLst>
      <p:ext uri="{BB962C8B-B14F-4D97-AF65-F5344CB8AC3E}">
        <p14:creationId xmlns:p14="http://schemas.microsoft.com/office/powerpoint/2010/main" val="7419332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59741-3FAF-42E1-B282-57516462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9A35A-A30C-400D-8D48-C2BE3504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Test piramidi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598F6-3CEC-4A83-A3BA-9E0FF9F2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Unit test · GameService ve move analyzer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14673-42C6-43ED-9792-888D4F96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Integration test · FastAPI + fake engine + fake coach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B4A98-AB18-4CE4-9F47-CA1184DF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05250"/>
            <a:ext cx="628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Smoke test · gerçek server ve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CB308-8C8D-464B-B23F-60FD68A6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testi gerçek Stockfish ile çalıştırmak testleri yavaş ve kırılgan yapar.</a:t>
            </a:r>
          </a:p>
        </p:txBody>
      </p:sp>
    </p:spTree>
    <p:extLst>
      <p:ext uri="{BB962C8B-B14F-4D97-AF65-F5344CB8AC3E}">
        <p14:creationId xmlns:p14="http://schemas.microsoft.com/office/powerpoint/2010/main" val="5211354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83071-D724-4639-8D63-1FC965EF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EBE50-101A-418F-93E1-D74B87E2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İyi bir test neyi kanıtlar?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3B433-3B1B-4724-B9C9-E7C1AB91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def test_illegal_move_does_not_change_board():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game = GameService.new()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before = game.board.fen()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with pytest.raises(IllegalMoveError):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    game.play_move("e2", "e5")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assert game.board.fen() == before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14B63-307F-4FC5-B1EB-9D5C4A4D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Bu test yalnızca hatayı değil, hata sonrası state bütünlüğünü de kanıtlar.</a:t>
            </a:r>
          </a:p>
        </p:txBody>
      </p:sp>
    </p:spTree>
    <p:extLst>
      <p:ext uri="{BB962C8B-B14F-4D97-AF65-F5344CB8AC3E}">
        <p14:creationId xmlns:p14="http://schemas.microsoft.com/office/powerpoint/2010/main" val="4171912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FAE10-D595-40F2-82ED-1D6F3B96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A26EB-BF2D-45A3-AD25-9FE5BF1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4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00926-4049-4675-BD71-85725AD6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Geçersiz hamleyi reddedip oyunun state’ini bozmayan bir servis tasarlayabilirsin.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141DA-4E9C-4AF8-8A11-8EE1A608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“Validation, domain error ve external dependency failure durumlarını ayrı ele alıp uygun HTTP kodlarına çeviriyorum.”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B4133-F50E-4F61-8E23-0BECCAEC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Stockfish adapter ve UCI motor entegrasyonu</a:t>
            </a:r>
          </a:p>
        </p:txBody>
      </p:sp>
    </p:spTree>
    <p:extLst>
      <p:ext uri="{BB962C8B-B14F-4D97-AF65-F5344CB8AC3E}">
        <p14:creationId xmlns:p14="http://schemas.microsoft.com/office/powerpoint/2010/main" val="13012880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4F7C4-6553-4CF8-B86B-E32EADBD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9B1B3-9EF3-483C-8C53-0DB3F2DE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Motoru ürüne bağlamak: süreç, protokol ve güvenilirlik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E63C6-8F77-4447-A321-2FBB918D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5 · UCI, evaluation ve failure handling</a:t>
            </a:r>
          </a:p>
        </p:txBody>
      </p:sp>
    </p:spTree>
    <p:extLst>
      <p:ext uri="{BB962C8B-B14F-4D97-AF65-F5344CB8AC3E}">
        <p14:creationId xmlns:p14="http://schemas.microsoft.com/office/powerpoint/2010/main" val="140287604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0CC89-5722-417A-B8AF-3330FD08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A7F76-236E-423F-904C-690F05BC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ve LLM’in farklı görevleri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DCEB1-5195-4A2B-8255-3B4A8E4B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Stockfish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Pozisyonu hesaplar.</a:t>
            </a:r>
          </a:p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 iyi hamleyi önerir.</a:t>
            </a:r>
          </a:p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Skor ve principal variation üretir.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Doğruluk otoritesi.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7DD95-92DC-4EBF-8D2E-8EAB17D3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 coach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Motor sonucunu açıklar.</a:t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seviyesine uyarlar.</a:t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Pedagojik dil üretir.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Açıklama katmanı.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F9DD6-9F42-4328-88F9-CC7AF559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LLM motor skorunu değiştiremez; Stockfish de pedagojik açıklama üretmek zorunda değildir.</a:t>
            </a:r>
          </a:p>
        </p:txBody>
      </p:sp>
    </p:spTree>
    <p:extLst>
      <p:ext uri="{BB962C8B-B14F-4D97-AF65-F5344CB8AC3E}">
        <p14:creationId xmlns:p14="http://schemas.microsoft.com/office/powerpoint/2010/main" val="74627046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5BB38-B978-4037-BB22-385ABD74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C568D-B61C-49AA-8850-D3306BDE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UCI sürecinin yaşam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D2E80-8DC8-4F03-B8BE-697DE6AB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Başlat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D0727-82AC-4DE3-AED4-38214C89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SimpleEngine.popen_uci(path)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AA944-8CBE-479C-AC09-655188A2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Konum 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78271-1B90-4457-BD79-F6C09C66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board / FEN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03C0B-1F6C-4FF1-81B3-BA1CCB99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Limit koy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86B45-6560-4033-8744-060817CC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depth veya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21C2E-6214-44CE-ACD8-EAA10553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Analiz 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E0E52-84BC-4784-9DB9-2B6DCB17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766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engine.analyse(...)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55B44-FD57-474D-A900-7B789BD1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Normalize 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8CD43-B852-4FB6-8451-955AC0DA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score + bestMove + pv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A37DA-163E-4EF1-82E6-8B252211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Kapat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AA7DC-5034-4498-B8CA-3787D43F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engine.quit()</a:t>
            </a:r>
          </a:p>
        </p:txBody>
      </p:sp>
    </p:spTree>
    <p:extLst>
      <p:ext uri="{BB962C8B-B14F-4D97-AF65-F5344CB8AC3E}">
        <p14:creationId xmlns:p14="http://schemas.microsoft.com/office/powerpoint/2010/main" val="3192081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9E369-4314-47F8-B444-0E0D308B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2BA4D-5BE6-4DFD-A48F-E4E072D7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Adapter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26E15-5B0E-4E78-82A6-605AA2DA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ne gönderir?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board</a:t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depth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Stockfish’in stdout’unu veya UCI satırlarını bilmez.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46781-58C6-4C50-A57B-12652BB7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Adapter ne döner?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evaluation: {kind, value},</a:t>
            </a:r>
          </a:p>
          <a:p xmlns:a="http://schemas.openxmlformats.org/drawingml/2006/main">
            <a:pPr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bestMove: "g1f3",</a:t>
            </a:r>
          </a:p>
          <a:p xmlns:a="http://schemas.openxmlformats.org/drawingml/2006/main">
            <a:pPr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pv: [...]</a:t>
            </a:r>
          </a:p>
          <a:p xmlns:a="http://schemas.openxmlformats.org/drawingml/2006/main">
            <a:pPr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Stabil uygulama DTO’su.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7F810-E181-4DCF-A90E-B2D6F1C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Harici aracın değişken ayrıntılarını tek bir sınırın arkasında tutuyoruz.</a:t>
            </a:r>
          </a:p>
        </p:txBody>
      </p:sp>
    </p:spTree>
    <p:extLst>
      <p:ext uri="{BB962C8B-B14F-4D97-AF65-F5344CB8AC3E}">
        <p14:creationId xmlns:p14="http://schemas.microsoft.com/office/powerpoint/2010/main" val="180499191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5BAAB-4D45-4097-B825-B53AFD94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54DFD-BE14-4D8E-B397-5A9F5880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Evaluation: centipawn ve 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106C8-C5FF-46E3-A322-4D519A1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{ kind: "centipawn", value: 35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+0.35 piyon = küçük beyaz avantajı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Skor beyaz perspektifinden normalize edilir.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4A10B-B2A1-430F-A0FD-18597D59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{ kind: "mate", value: 3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Beyaz 3 hamlede mat eder.</a:t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Negatif değer siyah lehine matı gösterir.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Mate’i cp gibi hesaplamayız.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859C5-16D7-4F38-82BF-8CCBF065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Skor türü bilinmeden centipawn loss hesaplamak yanlış sınıflandırma üretir.</a:t>
            </a:r>
          </a:p>
        </p:txBody>
      </p:sp>
    </p:spTree>
    <p:extLst>
      <p:ext uri="{BB962C8B-B14F-4D97-AF65-F5344CB8AC3E}">
        <p14:creationId xmlns:p14="http://schemas.microsoft.com/office/powerpoint/2010/main" val="174682960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2A0ED-BE8E-427A-8154-18EF9D75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421F9-6B89-42E7-A6CC-987561AB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Harici süreç güvenilirliği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A2F0A-4446-4F40-99FB-FE654EFD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Dosya yok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38159-A78E-46DC-B850-5FD5B364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668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STOCKFISH_PATH yanlışsa 503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41392-B5BE-45C1-B9AD-B89481CE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Timeout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7E8A1-F236-49D0-97E5-61FD9F99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İsteği sonsuza kadar bekletme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E9612-8765-4ABF-9469-F1864A8E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Concurrency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77B63-5022-4F69-85C1-AA8E7BA2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3372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engine üzerinde lock/queue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D7FAE-3796-4FDB-9753-284022E1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Kapanış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4220B-4B20-48B9-9F36-7E61EBF0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671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kapanırken engine.quit()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5D261-6B93-4F9F-914F-D17CEC25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Yanlış çıktı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11DA0-7245-456E-B6D7-3EDD905F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005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UCI best move tekrar legal kontrol</a:t>
            </a:r>
          </a:p>
        </p:txBody>
      </p:sp>
    </p:spTree>
    <p:extLst>
      <p:ext uri="{BB962C8B-B14F-4D97-AF65-F5344CB8AC3E}">
        <p14:creationId xmlns:p14="http://schemas.microsoft.com/office/powerpoint/2010/main" val="80980106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7A7A7-80B6-4268-B21F-5FE11868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7481F-F5F4-4C30-ADE6-B11EB06D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5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A2142-DD88-4FFE-BFD4-9453E1B5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Stockfish’i sadece çağırmayı değil, çıktısını normalize edip güvenilir bir uygulama sözleşmesine dönüştürmeyi öğrendin.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88A4E-B90A-43C4-BFEC-5FB01C10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“Stockfish’i UCI adapter arkasına aldım; mate ve centipawn skorlarını beyaz perspektifine normalize edip timeout ve legal-move kontrolleri ekledim.”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E127E-9121-4C47-B560-9ABA199A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Move analysis, classification ve evaluation</a:t>
            </a:r>
          </a:p>
        </p:txBody>
      </p:sp>
    </p:spTree>
    <p:extLst>
      <p:ext uri="{BB962C8B-B14F-4D97-AF65-F5344CB8AC3E}">
        <p14:creationId xmlns:p14="http://schemas.microsoft.com/office/powerpoint/2010/main" val="1436385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2026-09-21T18:15:07.1980000Z</dcterms:created>
  <dcterms:modified xsi:type="dcterms:W3CDTF">2026-09-21T18:15:07.1980000Z</dcterms:modified>
</coreProperties>
</file>